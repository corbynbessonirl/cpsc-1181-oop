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8" r:id="rId48"/>
    <p:sldId id="309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20" r:id="rId58"/>
    <p:sldId id="321" r:id="rId59"/>
    <p:sldId id="322" r:id="rId60"/>
    <p:sldId id="323" r:id="rId61"/>
    <p:sldId id="324" r:id="rId62"/>
    <p:sldId id="325" r:id="rId63"/>
    <p:sldId id="326" r:id="rId64"/>
  </p:sldIdLst>
  <p:sldSz cx="7315200" cy="5486400" type="B5JIS"/>
  <p:notesSz cx="7315200" cy="548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712"/>
  </p:normalViewPr>
  <p:slideViewPr>
    <p:cSldViewPr>
      <p:cViewPr varScale="1">
        <p:scale>
          <a:sx n="129" d="100"/>
          <a:sy n="129" d="100"/>
        </p:scale>
        <p:origin x="176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8640" y="1700784"/>
            <a:ext cx="621792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7280" y="3072384"/>
            <a:ext cx="5120640" cy="137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4497" y="633768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C721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5760" y="1261872"/>
            <a:ext cx="3182112" cy="3621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767328" y="1261872"/>
            <a:ext cx="3182112" cy="3621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4497" y="63452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1797" y="260055"/>
            <a:ext cx="5991605" cy="327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384" y="1123828"/>
            <a:ext cx="5392430" cy="2489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\\localhost\Users\Mili\Downloads\BJ6_LectureSlides\ch18\code\section_2\Pair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file:///\\localhost\Users\Mili\Downloads\BJ6_LectureSlides\ch18\code\section_2\PairDemo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Chapter </a:t>
            </a:r>
            <a:r>
              <a:rPr spc="105" dirty="0"/>
              <a:t>18 </a:t>
            </a:r>
            <a:r>
              <a:rPr spc="275" dirty="0"/>
              <a:t>– </a:t>
            </a:r>
            <a:r>
              <a:rPr spc="65" dirty="0"/>
              <a:t>Generic</a:t>
            </a:r>
            <a:r>
              <a:rPr spc="-360" dirty="0"/>
              <a:t> </a:t>
            </a:r>
            <a:r>
              <a:rPr spc="175" dirty="0"/>
              <a:t>Classes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Chapter</a:t>
            </a:r>
            <a:r>
              <a:rPr spc="-40" dirty="0"/>
              <a:t> </a:t>
            </a:r>
            <a:r>
              <a:rPr spc="150" dirty="0"/>
              <a:t>Goals</a:t>
            </a:r>
          </a:p>
        </p:txBody>
      </p:sp>
      <p:sp>
        <p:nvSpPr>
          <p:cNvPr id="3" name="object 3"/>
          <p:cNvSpPr>
            <a:spLocks noChangeAspect="1"/>
          </p:cNvSpPr>
          <p:nvPr/>
        </p:nvSpPr>
        <p:spPr>
          <a:xfrm>
            <a:off x="1828800" y="838200"/>
            <a:ext cx="3066107" cy="2468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/>
          <p:cNvSpPr/>
          <p:nvPr/>
        </p:nvSpPr>
        <p:spPr>
          <a:xfrm>
            <a:off x="904764" y="332564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/>
          <p:nvPr/>
        </p:nvSpPr>
        <p:spPr>
          <a:xfrm>
            <a:off x="904764" y="365561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/>
          <p:cNvSpPr/>
          <p:nvPr/>
        </p:nvSpPr>
        <p:spPr>
          <a:xfrm>
            <a:off x="904764" y="397665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904764" y="458307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 txBox="1"/>
          <p:nvPr/>
        </p:nvSpPr>
        <p:spPr>
          <a:xfrm>
            <a:off x="1066800" y="3124200"/>
            <a:ext cx="5200015" cy="160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48640">
              <a:lnSpc>
                <a:spcPct val="139700"/>
              </a:lnSpc>
            </a:pPr>
            <a:r>
              <a:rPr sz="1550" spc="10" dirty="0">
                <a:latin typeface="Arial"/>
                <a:cs typeface="Arial"/>
              </a:rPr>
              <a:t>To understand the objective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generic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programming  To implement generic classes and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methods</a:t>
            </a:r>
            <a:endParaRPr sz="1550">
              <a:latin typeface="Arial"/>
              <a:cs typeface="Arial"/>
            </a:endParaRPr>
          </a:p>
          <a:p>
            <a:pPr marL="12700" marR="126364">
              <a:lnSpc>
                <a:spcPct val="117000"/>
              </a:lnSpc>
              <a:spcBef>
                <a:spcPts val="350"/>
              </a:spcBef>
            </a:pPr>
            <a:r>
              <a:rPr sz="1550" spc="10" dirty="0">
                <a:latin typeface="Arial"/>
                <a:cs typeface="Arial"/>
              </a:rPr>
              <a:t>To explain the execution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generic methods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virtual  </a:t>
            </a:r>
            <a:r>
              <a:rPr sz="1550" spc="10" dirty="0">
                <a:latin typeface="Arial"/>
                <a:cs typeface="Arial"/>
              </a:rPr>
              <a:t>machine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"/>
                <a:cs typeface="Arial"/>
              </a:rPr>
              <a:t>To describe the </a:t>
            </a:r>
            <a:r>
              <a:rPr sz="1550" spc="5" dirty="0">
                <a:latin typeface="Arial"/>
                <a:cs typeface="Arial"/>
              </a:rPr>
              <a:t>limitations of </a:t>
            </a:r>
            <a:r>
              <a:rPr sz="1550" spc="10" dirty="0">
                <a:latin typeface="Arial"/>
                <a:cs typeface="Arial"/>
              </a:rPr>
              <a:t>generic programming </a:t>
            </a:r>
            <a:r>
              <a:rPr sz="1550" spc="5" dirty="0">
                <a:latin typeface="Arial"/>
                <a:cs typeface="Arial"/>
              </a:rPr>
              <a:t>in</a:t>
            </a:r>
            <a:r>
              <a:rPr sz="1550" spc="-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Java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95061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5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797" y="281531"/>
            <a:ext cx="3535679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60"/>
              </a:lnSpc>
            </a:pPr>
            <a:r>
              <a:rPr spc="65" dirty="0"/>
              <a:t>Generic </a:t>
            </a:r>
            <a:r>
              <a:rPr spc="175" dirty="0"/>
              <a:t>Classes </a:t>
            </a:r>
            <a:r>
              <a:rPr spc="140" dirty="0"/>
              <a:t>and</a:t>
            </a:r>
            <a:r>
              <a:rPr spc="-165" dirty="0"/>
              <a:t> </a:t>
            </a:r>
            <a:r>
              <a:rPr spc="110" dirty="0"/>
              <a:t>Type  </a:t>
            </a:r>
            <a:r>
              <a:rPr spc="95" dirty="0"/>
              <a:t>Parameters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127165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819" y="1886993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94" y="44589"/>
                </a:moveTo>
                <a:lnTo>
                  <a:pt x="12539" y="43200"/>
                </a:lnTo>
                <a:lnTo>
                  <a:pt x="5572" y="39027"/>
                </a:lnTo>
                <a:lnTo>
                  <a:pt x="1393" y="32061"/>
                </a:lnTo>
                <a:lnTo>
                  <a:pt x="0" y="22294"/>
                </a:lnTo>
                <a:lnTo>
                  <a:pt x="1393" y="12528"/>
                </a:lnTo>
                <a:lnTo>
                  <a:pt x="5572" y="5562"/>
                </a:lnTo>
                <a:lnTo>
                  <a:pt x="12539" y="1389"/>
                </a:lnTo>
                <a:lnTo>
                  <a:pt x="22294" y="0"/>
                </a:lnTo>
                <a:lnTo>
                  <a:pt x="32050" y="1389"/>
                </a:lnTo>
                <a:lnTo>
                  <a:pt x="39017" y="5562"/>
                </a:lnTo>
                <a:lnTo>
                  <a:pt x="43196" y="12528"/>
                </a:lnTo>
                <a:lnTo>
                  <a:pt x="44589" y="22294"/>
                </a:lnTo>
                <a:lnTo>
                  <a:pt x="43196" y="32061"/>
                </a:lnTo>
                <a:lnTo>
                  <a:pt x="39017" y="39027"/>
                </a:lnTo>
                <a:lnTo>
                  <a:pt x="32050" y="43200"/>
                </a:lnTo>
                <a:lnTo>
                  <a:pt x="22294" y="4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819" y="2136696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94" y="44589"/>
                </a:moveTo>
                <a:lnTo>
                  <a:pt x="12539" y="43200"/>
                </a:lnTo>
                <a:lnTo>
                  <a:pt x="5572" y="39027"/>
                </a:lnTo>
                <a:lnTo>
                  <a:pt x="1393" y="32061"/>
                </a:lnTo>
                <a:lnTo>
                  <a:pt x="0" y="22294"/>
                </a:lnTo>
                <a:lnTo>
                  <a:pt x="1393" y="12528"/>
                </a:lnTo>
                <a:lnTo>
                  <a:pt x="5572" y="5562"/>
                </a:lnTo>
                <a:lnTo>
                  <a:pt x="12539" y="1389"/>
                </a:lnTo>
                <a:lnTo>
                  <a:pt x="22294" y="0"/>
                </a:lnTo>
                <a:lnTo>
                  <a:pt x="32050" y="1389"/>
                </a:lnTo>
                <a:lnTo>
                  <a:pt x="39017" y="5562"/>
                </a:lnTo>
                <a:lnTo>
                  <a:pt x="43196" y="12528"/>
                </a:lnTo>
                <a:lnTo>
                  <a:pt x="44589" y="22294"/>
                </a:lnTo>
                <a:lnTo>
                  <a:pt x="43196" y="32061"/>
                </a:lnTo>
                <a:lnTo>
                  <a:pt x="39017" y="39027"/>
                </a:lnTo>
                <a:lnTo>
                  <a:pt x="32050" y="43200"/>
                </a:lnTo>
                <a:lnTo>
                  <a:pt x="22294" y="4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2819" y="2600428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94" y="44589"/>
                </a:moveTo>
                <a:lnTo>
                  <a:pt x="12539" y="43200"/>
                </a:lnTo>
                <a:lnTo>
                  <a:pt x="5572" y="39027"/>
                </a:lnTo>
                <a:lnTo>
                  <a:pt x="1393" y="32061"/>
                </a:lnTo>
                <a:lnTo>
                  <a:pt x="0" y="22294"/>
                </a:lnTo>
                <a:lnTo>
                  <a:pt x="1393" y="12528"/>
                </a:lnTo>
                <a:lnTo>
                  <a:pt x="5572" y="5562"/>
                </a:lnTo>
                <a:lnTo>
                  <a:pt x="12539" y="1389"/>
                </a:lnTo>
                <a:lnTo>
                  <a:pt x="22294" y="0"/>
                </a:lnTo>
                <a:lnTo>
                  <a:pt x="32050" y="1389"/>
                </a:lnTo>
                <a:lnTo>
                  <a:pt x="39017" y="5562"/>
                </a:lnTo>
                <a:lnTo>
                  <a:pt x="43196" y="12528"/>
                </a:lnTo>
                <a:lnTo>
                  <a:pt x="44589" y="22294"/>
                </a:lnTo>
                <a:lnTo>
                  <a:pt x="43196" y="32061"/>
                </a:lnTo>
                <a:lnTo>
                  <a:pt x="39017" y="39027"/>
                </a:lnTo>
                <a:lnTo>
                  <a:pt x="32050" y="43200"/>
                </a:lnTo>
                <a:lnTo>
                  <a:pt x="22294" y="4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9348" y="312658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9348" y="346546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b="1" spc="10" dirty="0">
                <a:latin typeface="Arial"/>
                <a:cs typeface="Arial"/>
              </a:rPr>
              <a:t>Generic programming: </a:t>
            </a:r>
            <a:r>
              <a:rPr spc="10" dirty="0"/>
              <a:t>creation </a:t>
            </a:r>
            <a:r>
              <a:rPr spc="5" dirty="0"/>
              <a:t>of </a:t>
            </a:r>
            <a:r>
              <a:rPr spc="10" dirty="0"/>
              <a:t>programming</a:t>
            </a:r>
            <a:r>
              <a:rPr spc="-20" dirty="0"/>
              <a:t> </a:t>
            </a:r>
            <a:r>
              <a:rPr spc="10" dirty="0"/>
              <a:t>constructs  </a:t>
            </a:r>
            <a:r>
              <a:rPr spc="5" dirty="0"/>
              <a:t>that </a:t>
            </a:r>
            <a:r>
              <a:rPr spc="10" dirty="0"/>
              <a:t>can be used with many </a:t>
            </a:r>
            <a:r>
              <a:rPr spc="5" dirty="0"/>
              <a:t>different</a:t>
            </a:r>
            <a:r>
              <a:rPr spc="-25" dirty="0"/>
              <a:t> </a:t>
            </a:r>
            <a:r>
              <a:rPr spc="10" dirty="0"/>
              <a:t>types.</a:t>
            </a:r>
          </a:p>
          <a:p>
            <a:pPr marL="372110" marR="1053465">
              <a:lnSpc>
                <a:spcPct val="136500"/>
              </a:lnSpc>
              <a:spcBef>
                <a:spcPts val="420"/>
              </a:spcBef>
            </a:pPr>
            <a:r>
              <a:rPr sz="1200" dirty="0">
                <a:latin typeface="Arial"/>
                <a:cs typeface="Arial"/>
              </a:rPr>
              <a:t>In Java, achieved with type parameters or with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inheritance  Type parameter example: Java's </a:t>
            </a:r>
            <a:r>
              <a:rPr sz="1200" dirty="0">
                <a:latin typeface="Courier" charset="0"/>
                <a:cs typeface="Courier" charset="0"/>
              </a:rPr>
              <a:t>ArrayList</a:t>
            </a:r>
            <a:r>
              <a:rPr sz="1200" spc="-434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(e.g.</a:t>
            </a:r>
          </a:p>
          <a:p>
            <a:pPr marL="372110">
              <a:lnSpc>
                <a:spcPct val="100000"/>
              </a:lnSpc>
              <a:spcBef>
                <a:spcPts val="245"/>
              </a:spcBef>
            </a:pPr>
            <a:r>
              <a:rPr sz="1200" dirty="0">
                <a:latin typeface="Courier" charset="0"/>
                <a:cs typeface="Courier" charset="0"/>
              </a:rPr>
              <a:t>ArrayList&lt;String&gt;</a:t>
            </a:r>
            <a:r>
              <a:rPr sz="1200" dirty="0">
                <a:latin typeface="Arial"/>
                <a:cs typeface="Arial"/>
              </a:rPr>
              <a:t>)</a:t>
            </a:r>
          </a:p>
          <a:p>
            <a:pPr marL="372110" marR="345440">
              <a:lnSpc>
                <a:spcPct val="112200"/>
              </a:lnSpc>
              <a:spcBef>
                <a:spcPts val="350"/>
              </a:spcBef>
            </a:pPr>
            <a:r>
              <a:rPr sz="1200" dirty="0">
                <a:latin typeface="Arial"/>
                <a:cs typeface="Arial"/>
              </a:rPr>
              <a:t>Inheritance example: </a:t>
            </a:r>
            <a:r>
              <a:rPr sz="1200" dirty="0">
                <a:latin typeface="Courier" charset="0"/>
                <a:cs typeface="Courier" charset="0"/>
              </a:rPr>
              <a:t>LinkedList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implemented in Section 16.1 can  store objects of any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class</a:t>
            </a: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b="1" spc="10" dirty="0">
                <a:latin typeface="Arial"/>
                <a:cs typeface="Arial"/>
              </a:rPr>
              <a:t>Generic class: </a:t>
            </a:r>
            <a:r>
              <a:rPr spc="10" dirty="0"/>
              <a:t>has one or more type</a:t>
            </a:r>
            <a:r>
              <a:rPr spc="-65" dirty="0"/>
              <a:t> </a:t>
            </a:r>
            <a:r>
              <a:rPr spc="10" dirty="0"/>
              <a:t>parameters.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pc="15" dirty="0"/>
              <a:t>A </a:t>
            </a:r>
            <a:r>
              <a:rPr spc="10" dirty="0"/>
              <a:t>type parameter </a:t>
            </a:r>
            <a:r>
              <a:rPr spc="5" dirty="0"/>
              <a:t>for </a:t>
            </a:r>
            <a:r>
              <a:rPr spc="10" dirty="0">
                <a:latin typeface="Courier" charset="0"/>
                <a:cs typeface="Courier" charset="0"/>
              </a:rPr>
              <a:t>ArrayList</a:t>
            </a:r>
            <a:r>
              <a:rPr spc="-550" dirty="0">
                <a:latin typeface="Courier" charset="0"/>
                <a:cs typeface="Courier" charset="0"/>
              </a:rPr>
              <a:t> </a:t>
            </a:r>
            <a:r>
              <a:rPr spc="10" dirty="0"/>
              <a:t>denotes the element type: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2165" y="3692876"/>
            <a:ext cx="5234940" cy="34689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272415" marR="3067685">
              <a:lnSpc>
                <a:spcPts val="1120"/>
              </a:lnSpc>
              <a:spcBef>
                <a:spcPts val="50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void add(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E </a:t>
            </a:r>
            <a:r>
              <a:rPr sz="950" spc="-5" dirty="0">
                <a:latin typeface="Courier" charset="0"/>
                <a:cs typeface="Courier" charset="0"/>
              </a:rPr>
              <a:t>element)  public 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E </a:t>
            </a:r>
            <a:r>
              <a:rPr sz="950" spc="-5" dirty="0">
                <a:latin typeface="Courier" charset="0"/>
                <a:cs typeface="Courier" charset="0"/>
              </a:rPr>
              <a:t>get(int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index)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8337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50" dirty="0"/>
              <a:t> </a:t>
            </a:r>
            <a:r>
              <a:rPr spc="75" dirty="0"/>
              <a:t>Parameter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938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51712"/>
            <a:ext cx="421195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Can be </a:t>
            </a:r>
            <a:r>
              <a:rPr sz="1550" spc="5" dirty="0">
                <a:latin typeface="Arial"/>
                <a:cs typeface="Arial"/>
              </a:rPr>
              <a:t>instantiated </a:t>
            </a:r>
            <a:r>
              <a:rPr sz="1550" spc="10" dirty="0">
                <a:latin typeface="Arial"/>
                <a:cs typeface="Arial"/>
              </a:rPr>
              <a:t>with class or </a:t>
            </a:r>
            <a:r>
              <a:rPr sz="1550" spc="5" dirty="0">
                <a:latin typeface="Arial"/>
                <a:cs typeface="Arial"/>
              </a:rPr>
              <a:t>interface</a:t>
            </a:r>
            <a:r>
              <a:rPr sz="155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177872"/>
            <a:ext cx="5234940" cy="34689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5880" marR="3573145">
              <a:lnSpc>
                <a:spcPts val="1120"/>
              </a:lnSpc>
              <a:spcBef>
                <a:spcPts val="505"/>
              </a:spcBef>
            </a:pPr>
            <a:r>
              <a:rPr sz="950" spc="-5" dirty="0">
                <a:latin typeface="Courier" charset="0"/>
                <a:cs typeface="Courier" charset="0"/>
              </a:rPr>
              <a:t>ArrayList&lt;BankAccount&gt;  ArrayList&lt;Measurable&gt;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177091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1663245"/>
            <a:ext cx="433387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Cannot use a </a:t>
            </a:r>
            <a:r>
              <a:rPr sz="1550" spc="5" dirty="0">
                <a:latin typeface="Arial"/>
                <a:cs typeface="Arial"/>
              </a:rPr>
              <a:t>primitive </a:t>
            </a:r>
            <a:r>
              <a:rPr sz="1550" spc="10" dirty="0">
                <a:latin typeface="Arial"/>
                <a:cs typeface="Arial"/>
              </a:rPr>
              <a:t>type as a type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parameter: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165" y="1998323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ArrayList&lt;double&gt; //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Wrong!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9348" y="244867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1384" y="2341008"/>
            <a:ext cx="3745229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Use corresponding wrapper class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instead: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2165" y="2676086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ArrayList&lt;Double&gt;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8319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45" dirty="0"/>
              <a:t> </a:t>
            </a:r>
            <a:r>
              <a:rPr spc="95" dirty="0"/>
              <a:t>Parameters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936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28932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1384" y="780356"/>
            <a:ext cx="4999990" cy="942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0200"/>
              </a:lnSpc>
            </a:pPr>
            <a:r>
              <a:rPr sz="1550" spc="10" dirty="0">
                <a:latin typeface="Arial"/>
                <a:cs typeface="Arial"/>
              </a:rPr>
              <a:t>Supplied type replaces type variable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class </a:t>
            </a:r>
            <a:r>
              <a:rPr sz="1550" spc="5" dirty="0">
                <a:latin typeface="Arial"/>
                <a:cs typeface="Arial"/>
              </a:rPr>
              <a:t>interface.  </a:t>
            </a:r>
            <a:r>
              <a:rPr sz="1550" spc="10" dirty="0">
                <a:latin typeface="Arial"/>
                <a:cs typeface="Arial"/>
              </a:rPr>
              <a:t>Example: </a:t>
            </a:r>
            <a:r>
              <a:rPr sz="1550" spc="10" dirty="0">
                <a:latin typeface="Courier" charset="0"/>
                <a:cs typeface="Courier" charset="0"/>
              </a:rPr>
              <a:t>add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in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ArrayList&lt;BankAccount&gt;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has type  variable </a:t>
            </a:r>
            <a:r>
              <a:rPr sz="1550" spc="10" dirty="0">
                <a:latin typeface="Courier" charset="0"/>
                <a:cs typeface="Courier" charset="0"/>
              </a:rPr>
              <a:t>E</a:t>
            </a:r>
            <a:r>
              <a:rPr sz="1550" spc="-57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replaced with </a:t>
            </a:r>
            <a:r>
              <a:rPr sz="1550" spc="10" dirty="0">
                <a:latin typeface="Courier" charset="0"/>
                <a:cs typeface="Courier" charset="0"/>
              </a:rPr>
              <a:t>BankAccount</a:t>
            </a:r>
            <a:r>
              <a:rPr sz="1550" spc="10" dirty="0">
                <a:latin typeface="Arial"/>
                <a:cs typeface="Arial"/>
              </a:rPr>
              <a:t>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2165" y="1802110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void add(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BankAccount</a:t>
            </a:r>
            <a:r>
              <a:rPr sz="950" spc="-7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element)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9348" y="226138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384" y="2153714"/>
            <a:ext cx="448627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Contrast with </a:t>
            </a:r>
            <a:r>
              <a:rPr sz="1550" spc="10" dirty="0">
                <a:latin typeface="Courier" charset="0"/>
                <a:cs typeface="Courier" charset="0"/>
              </a:rPr>
              <a:t>LinkedList.add</a:t>
            </a:r>
            <a:r>
              <a:rPr sz="1550" spc="-54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from Chapter 16: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2165" y="2488792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void add(Object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element)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8174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 </a:t>
            </a:r>
            <a:r>
              <a:rPr spc="95" dirty="0"/>
              <a:t>Parameters Increase</a:t>
            </a:r>
            <a:r>
              <a:rPr spc="-130" dirty="0"/>
              <a:t> </a:t>
            </a:r>
            <a:r>
              <a:rPr spc="75" dirty="0"/>
              <a:t>Safety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922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82819" y="1583476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94" y="44589"/>
                </a:moveTo>
                <a:lnTo>
                  <a:pt x="12539" y="43200"/>
                </a:lnTo>
                <a:lnTo>
                  <a:pt x="5572" y="39027"/>
                </a:lnTo>
                <a:lnTo>
                  <a:pt x="1393" y="32061"/>
                </a:lnTo>
                <a:lnTo>
                  <a:pt x="0" y="22294"/>
                </a:lnTo>
                <a:lnTo>
                  <a:pt x="1393" y="12528"/>
                </a:lnTo>
                <a:lnTo>
                  <a:pt x="5572" y="5562"/>
                </a:lnTo>
                <a:lnTo>
                  <a:pt x="12539" y="1389"/>
                </a:lnTo>
                <a:lnTo>
                  <a:pt x="22294" y="0"/>
                </a:lnTo>
                <a:lnTo>
                  <a:pt x="32050" y="1389"/>
                </a:lnTo>
                <a:lnTo>
                  <a:pt x="39017" y="5562"/>
                </a:lnTo>
                <a:lnTo>
                  <a:pt x="43196" y="12528"/>
                </a:lnTo>
                <a:lnTo>
                  <a:pt x="44589" y="22294"/>
                </a:lnTo>
                <a:lnTo>
                  <a:pt x="43196" y="32061"/>
                </a:lnTo>
                <a:lnTo>
                  <a:pt x="39017" y="39027"/>
                </a:lnTo>
                <a:lnTo>
                  <a:pt x="32050" y="43200"/>
                </a:lnTo>
                <a:lnTo>
                  <a:pt x="22294" y="4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2819" y="1833178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94" y="44589"/>
                </a:moveTo>
                <a:lnTo>
                  <a:pt x="12539" y="43200"/>
                </a:lnTo>
                <a:lnTo>
                  <a:pt x="5572" y="39027"/>
                </a:lnTo>
                <a:lnTo>
                  <a:pt x="1393" y="32061"/>
                </a:lnTo>
                <a:lnTo>
                  <a:pt x="0" y="22294"/>
                </a:lnTo>
                <a:lnTo>
                  <a:pt x="1393" y="12528"/>
                </a:lnTo>
                <a:lnTo>
                  <a:pt x="5572" y="5562"/>
                </a:lnTo>
                <a:lnTo>
                  <a:pt x="12539" y="1389"/>
                </a:lnTo>
                <a:lnTo>
                  <a:pt x="22294" y="0"/>
                </a:lnTo>
                <a:lnTo>
                  <a:pt x="32050" y="1389"/>
                </a:lnTo>
                <a:lnTo>
                  <a:pt x="39017" y="5562"/>
                </a:lnTo>
                <a:lnTo>
                  <a:pt x="43196" y="12528"/>
                </a:lnTo>
                <a:lnTo>
                  <a:pt x="44589" y="22294"/>
                </a:lnTo>
                <a:lnTo>
                  <a:pt x="43196" y="32061"/>
                </a:lnTo>
                <a:lnTo>
                  <a:pt x="39017" y="39027"/>
                </a:lnTo>
                <a:lnTo>
                  <a:pt x="32050" y="43200"/>
                </a:lnTo>
                <a:lnTo>
                  <a:pt x="22294" y="4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384" y="811392"/>
            <a:ext cx="5042535" cy="1337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8419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Type parameters make generic code safer and easier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to  </a:t>
            </a:r>
            <a:r>
              <a:rPr sz="1550" spc="10" dirty="0">
                <a:latin typeface="Arial"/>
                <a:cs typeface="Arial"/>
              </a:rPr>
              <a:t>read:</a:t>
            </a:r>
            <a:endParaRPr sz="1550" dirty="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015"/>
              </a:spcBef>
            </a:pPr>
            <a:r>
              <a:rPr sz="1200" dirty="0">
                <a:latin typeface="Arial"/>
                <a:cs typeface="Arial"/>
              </a:rPr>
              <a:t>Impossible to add a </a:t>
            </a:r>
            <a:r>
              <a:rPr sz="1200" dirty="0">
                <a:latin typeface="Courier" charset="0"/>
                <a:cs typeface="Courier" charset="0"/>
              </a:rPr>
              <a:t>String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into an </a:t>
            </a:r>
            <a:r>
              <a:rPr sz="1200" dirty="0">
                <a:latin typeface="Courier" charset="0"/>
                <a:cs typeface="Courier" charset="0"/>
              </a:rPr>
              <a:t>ArrayList&lt;BankAccount&gt;</a:t>
            </a:r>
          </a:p>
          <a:p>
            <a:pPr marL="372110" marR="5080">
              <a:lnSpc>
                <a:spcPct val="112200"/>
              </a:lnSpc>
              <a:spcBef>
                <a:spcPts val="350"/>
              </a:spcBef>
            </a:pPr>
            <a:r>
              <a:rPr sz="1200" dirty="0">
                <a:latin typeface="Arial"/>
                <a:cs typeface="Arial"/>
              </a:rPr>
              <a:t>Can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add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String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into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non-generic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LinkedList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intended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hold  bank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accounts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38883" y="2212191"/>
            <a:ext cx="4619625" cy="80509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525"/>
              </a:spcBef>
            </a:pPr>
            <a:r>
              <a:rPr sz="600" spc="-5" dirty="0">
                <a:latin typeface="Courier" charset="0"/>
                <a:cs typeface="Courier" charset="0"/>
              </a:rPr>
              <a:t>ArrayList&lt;BankAccount&gt; accounts1 = new</a:t>
            </a:r>
            <a:r>
              <a:rPr sz="600" spc="-2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ArrayList&lt;BankAccount&gt;();</a:t>
            </a:r>
            <a:endParaRPr sz="600" dirty="0">
              <a:latin typeface="Courier" charset="0"/>
              <a:cs typeface="Courier" charset="0"/>
            </a:endParaRPr>
          </a:p>
          <a:p>
            <a:pPr marL="52705" marR="1139825">
              <a:lnSpc>
                <a:spcPct val="136500"/>
              </a:lnSpc>
            </a:pPr>
            <a:r>
              <a:rPr sz="600" spc="-5" dirty="0">
                <a:latin typeface="Courier" charset="0"/>
                <a:cs typeface="Courier" charset="0"/>
              </a:rPr>
              <a:t>LinkedList accounts2 = new LinkedList(); // Should hold BankAccount objects  accounts1.add("my savings"); // Compile-time</a:t>
            </a:r>
            <a:r>
              <a:rPr sz="600" spc="-4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error</a:t>
            </a:r>
            <a:endParaRPr sz="600" dirty="0">
              <a:latin typeface="Courier" charset="0"/>
              <a:cs typeface="Courier" charset="0"/>
            </a:endParaRPr>
          </a:p>
          <a:p>
            <a:pPr marL="5270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accounts2.add("my savings"); // Not detected at compile</a:t>
            </a:r>
            <a:r>
              <a:rPr sz="600" spc="-3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time</a:t>
            </a:r>
            <a:endParaRPr sz="600" dirty="0">
              <a:latin typeface="Courier" charset="0"/>
              <a:cs typeface="Courier" charset="0"/>
            </a:endParaRPr>
          </a:p>
          <a:p>
            <a:pPr marL="5270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. .</a:t>
            </a:r>
            <a:r>
              <a:rPr sz="600" spc="-105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.</a:t>
            </a:r>
            <a:endParaRPr sz="600" dirty="0">
              <a:latin typeface="Courier" charset="0"/>
              <a:cs typeface="Courier" charset="0"/>
            </a:endParaRPr>
          </a:p>
          <a:p>
            <a:pPr marL="5270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BankAccount account = (BankAccount) accounts2.getFirst(); // Run-time</a:t>
            </a:r>
            <a:r>
              <a:rPr sz="600" spc="-1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error</a:t>
            </a:r>
            <a:endParaRPr sz="6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1758"/>
            <a:ext cx="5572760" cy="793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</a:pPr>
            <a:r>
              <a:rPr sz="1300" spc="5" dirty="0">
                <a:latin typeface="Arial"/>
                <a:cs typeface="Arial"/>
              </a:rPr>
              <a:t>The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standard</a:t>
            </a:r>
            <a:r>
              <a:rPr sz="1300" dirty="0">
                <a:latin typeface="Arial"/>
                <a:cs typeface="Arial"/>
              </a:rPr>
              <a:t> library provides </a:t>
            </a:r>
            <a:r>
              <a:rPr sz="1300" spc="5" dirty="0">
                <a:latin typeface="Arial"/>
                <a:cs typeface="Arial"/>
              </a:rPr>
              <a:t>a</a:t>
            </a:r>
            <a:r>
              <a:rPr sz="1300" dirty="0">
                <a:latin typeface="Arial"/>
                <a:cs typeface="Arial"/>
              </a:rPr>
              <a:t> class </a:t>
            </a:r>
            <a:r>
              <a:rPr sz="1300" spc="5" dirty="0">
                <a:latin typeface="Courier" charset="0"/>
                <a:cs typeface="Courier" charset="0"/>
              </a:rPr>
              <a:t>HashMap&lt;K,</a:t>
            </a:r>
            <a:r>
              <a:rPr sz="1300" spc="10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V&gt;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with </a:t>
            </a:r>
            <a:r>
              <a:rPr sz="1300" spc="5" dirty="0">
                <a:latin typeface="Arial"/>
                <a:cs typeface="Arial"/>
              </a:rPr>
              <a:t>key</a:t>
            </a:r>
            <a:r>
              <a:rPr sz="1300" dirty="0">
                <a:latin typeface="Arial"/>
                <a:cs typeface="Arial"/>
              </a:rPr>
              <a:t> type </a:t>
            </a:r>
            <a:r>
              <a:rPr sz="1300" spc="5" dirty="0">
                <a:latin typeface="Courier" charset="0"/>
                <a:cs typeface="Courier" charset="0"/>
              </a:rPr>
              <a:t>K</a:t>
            </a:r>
            <a:r>
              <a:rPr sz="1300" spc="-42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and  value </a:t>
            </a:r>
            <a:r>
              <a:rPr sz="1300" dirty="0">
                <a:latin typeface="Arial"/>
                <a:cs typeface="Arial"/>
              </a:rPr>
              <a:t>type </a:t>
            </a:r>
            <a:r>
              <a:rPr sz="1300" dirty="0">
                <a:latin typeface="Courier" charset="0"/>
                <a:cs typeface="Courier" charset="0"/>
              </a:rPr>
              <a:t>V</a:t>
            </a:r>
            <a:r>
              <a:rPr sz="1300" dirty="0">
                <a:latin typeface="Arial"/>
                <a:cs typeface="Arial"/>
              </a:rPr>
              <a:t>. </a:t>
            </a:r>
            <a:r>
              <a:rPr sz="1300" spc="5" dirty="0">
                <a:latin typeface="Arial"/>
                <a:cs typeface="Arial"/>
              </a:rPr>
              <a:t>Declare a hash map </a:t>
            </a:r>
            <a:r>
              <a:rPr sz="1300" dirty="0">
                <a:latin typeface="Arial"/>
                <a:cs typeface="Arial"/>
              </a:rPr>
              <a:t>that </a:t>
            </a:r>
            <a:r>
              <a:rPr sz="1300" spc="5" dirty="0">
                <a:latin typeface="Arial"/>
                <a:cs typeface="Arial"/>
              </a:rPr>
              <a:t>maps </a:t>
            </a:r>
            <a:r>
              <a:rPr sz="1300" dirty="0">
                <a:latin typeface="Arial"/>
                <a:cs typeface="Arial"/>
              </a:rPr>
              <a:t>strings to integers.</a:t>
            </a:r>
          </a:p>
          <a:p>
            <a:pPr marL="311785">
              <a:lnSpc>
                <a:spcPct val="100000"/>
              </a:lnSpc>
              <a:spcBef>
                <a:spcPts val="994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Courier" charset="0"/>
                <a:cs typeface="Courier" charset="0"/>
              </a:rPr>
              <a:t>HashMap&lt;String, Integer&gt;</a:t>
            </a:r>
            <a:endParaRPr sz="15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8639"/>
            <a:ext cx="5727065" cy="11703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75"/>
              </a:spcBef>
            </a:pPr>
            <a:r>
              <a:rPr sz="1300" spc="5" dirty="0">
                <a:latin typeface="Arial"/>
                <a:cs typeface="Arial"/>
              </a:rPr>
              <a:t>The </a:t>
            </a:r>
            <a:r>
              <a:rPr sz="1300" dirty="0">
                <a:latin typeface="Arial"/>
                <a:cs typeface="Arial"/>
              </a:rPr>
              <a:t>binary </a:t>
            </a:r>
            <a:r>
              <a:rPr sz="1300" spc="5" dirty="0">
                <a:latin typeface="Arial"/>
                <a:cs typeface="Arial"/>
              </a:rPr>
              <a:t>search </a:t>
            </a:r>
            <a:r>
              <a:rPr sz="1300" dirty="0">
                <a:latin typeface="Arial"/>
                <a:cs typeface="Arial"/>
              </a:rPr>
              <a:t>tree class in </a:t>
            </a:r>
            <a:r>
              <a:rPr sz="1300" spc="5" dirty="0">
                <a:latin typeface="Arial"/>
                <a:cs typeface="Arial"/>
              </a:rPr>
              <a:t>Chapter 17 </a:t>
            </a:r>
            <a:r>
              <a:rPr sz="1300" dirty="0">
                <a:latin typeface="Arial"/>
                <a:cs typeface="Arial"/>
              </a:rPr>
              <a:t>is </a:t>
            </a:r>
            <a:r>
              <a:rPr sz="1300" spc="5" dirty="0">
                <a:latin typeface="Arial"/>
                <a:cs typeface="Arial"/>
              </a:rPr>
              <a:t>an example </a:t>
            </a:r>
            <a:r>
              <a:rPr sz="1300" dirty="0">
                <a:latin typeface="Arial"/>
                <a:cs typeface="Arial"/>
              </a:rPr>
              <a:t>of generic  </a:t>
            </a:r>
            <a:r>
              <a:rPr sz="1300" spc="5" dirty="0">
                <a:latin typeface="Arial"/>
                <a:cs typeface="Arial"/>
              </a:rPr>
              <a:t>programming because you can use </a:t>
            </a:r>
            <a:r>
              <a:rPr sz="1300" dirty="0">
                <a:latin typeface="Arial"/>
                <a:cs typeface="Arial"/>
              </a:rPr>
              <a:t>it with </a:t>
            </a:r>
            <a:r>
              <a:rPr sz="1300" spc="5" dirty="0">
                <a:latin typeface="Arial"/>
                <a:cs typeface="Arial"/>
              </a:rPr>
              <a:t>any classes </a:t>
            </a:r>
            <a:r>
              <a:rPr sz="1300" dirty="0">
                <a:latin typeface="Arial"/>
                <a:cs typeface="Arial"/>
              </a:rPr>
              <a:t>that </a:t>
            </a:r>
            <a:r>
              <a:rPr sz="1300" spc="5" dirty="0">
                <a:latin typeface="Arial"/>
                <a:cs typeface="Arial"/>
              </a:rPr>
              <a:t>implement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</a:p>
          <a:p>
            <a:pPr marL="12700" marR="5080">
              <a:lnSpc>
                <a:spcPts val="1540"/>
              </a:lnSpc>
              <a:spcBef>
                <a:spcPts val="75"/>
              </a:spcBef>
            </a:pPr>
            <a:r>
              <a:rPr sz="1300" spc="5" dirty="0">
                <a:latin typeface="Courier" charset="0"/>
                <a:cs typeface="Courier" charset="0"/>
              </a:rPr>
              <a:t>Comparable</a:t>
            </a:r>
            <a:r>
              <a:rPr sz="1300" spc="-35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interface. </a:t>
            </a:r>
            <a:r>
              <a:rPr sz="1300" spc="5" dirty="0">
                <a:latin typeface="Arial"/>
                <a:cs typeface="Arial"/>
              </a:rPr>
              <a:t>Does </a:t>
            </a:r>
            <a:r>
              <a:rPr sz="1300" dirty="0">
                <a:latin typeface="Arial"/>
                <a:cs typeface="Arial"/>
              </a:rPr>
              <a:t>it </a:t>
            </a:r>
            <a:r>
              <a:rPr sz="1300" spc="5" dirty="0">
                <a:latin typeface="Arial"/>
                <a:cs typeface="Arial"/>
              </a:rPr>
              <a:t>achieve </a:t>
            </a:r>
            <a:r>
              <a:rPr sz="1300" dirty="0">
                <a:latin typeface="Arial"/>
                <a:cs typeface="Arial"/>
              </a:rPr>
              <a:t>genericity </a:t>
            </a:r>
            <a:r>
              <a:rPr sz="1300" spc="5" dirty="0">
                <a:latin typeface="Arial"/>
                <a:cs typeface="Arial"/>
              </a:rPr>
              <a:t>through </a:t>
            </a:r>
            <a:r>
              <a:rPr sz="1300" dirty="0">
                <a:latin typeface="Arial"/>
                <a:cs typeface="Arial"/>
              </a:rPr>
              <a:t>inheritance or type  </a:t>
            </a:r>
            <a:r>
              <a:rPr sz="1300" spc="5" dirty="0">
                <a:latin typeface="Arial"/>
                <a:cs typeface="Arial"/>
              </a:rPr>
              <a:t>parameters?</a:t>
            </a:r>
            <a:endParaRPr sz="130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88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5" dirty="0">
                <a:latin typeface="Arial"/>
                <a:cs typeface="Arial"/>
              </a:rPr>
              <a:t>It </a:t>
            </a:r>
            <a:r>
              <a:rPr sz="1550" spc="10" dirty="0">
                <a:latin typeface="Arial"/>
                <a:cs typeface="Arial"/>
              </a:rPr>
              <a:t>uses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inheritance.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8248"/>
            <a:ext cx="577850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Does </a:t>
            </a:r>
            <a:r>
              <a:rPr sz="1300" dirty="0">
                <a:latin typeface="Arial"/>
                <a:cs typeface="Arial"/>
              </a:rPr>
              <a:t>the following </a:t>
            </a:r>
            <a:r>
              <a:rPr sz="1300" spc="5" dirty="0">
                <a:latin typeface="Arial"/>
                <a:cs typeface="Arial"/>
              </a:rPr>
              <a:t>code </a:t>
            </a:r>
            <a:r>
              <a:rPr sz="1300" dirty="0">
                <a:latin typeface="Arial"/>
                <a:cs typeface="Arial"/>
              </a:rPr>
              <a:t>contain </a:t>
            </a:r>
            <a:r>
              <a:rPr sz="1300" spc="5" dirty="0">
                <a:latin typeface="Arial"/>
                <a:cs typeface="Arial"/>
              </a:rPr>
              <a:t>an </a:t>
            </a:r>
            <a:r>
              <a:rPr sz="1300" dirty="0">
                <a:latin typeface="Arial"/>
                <a:cs typeface="Arial"/>
              </a:rPr>
              <a:t>error? If so, is it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compile-time or run-time  error?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284544"/>
            <a:ext cx="5761355" cy="28828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1435" marR="3225165">
              <a:lnSpc>
                <a:spcPct val="101400"/>
              </a:lnSpc>
              <a:spcBef>
                <a:spcPts val="430"/>
              </a:spcBef>
            </a:pPr>
            <a:r>
              <a:rPr sz="750" spc="20" dirty="0">
                <a:latin typeface="Courier" charset="0"/>
                <a:cs typeface="Courier" charset="0"/>
              </a:rPr>
              <a:t>ArrayList&lt;Integer&gt; a = new ArrayList&lt;&gt;();  String s =</a:t>
            </a:r>
            <a:r>
              <a:rPr sz="750" spc="-5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a.get(0);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1743163"/>
            <a:ext cx="5365750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This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 compile-time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Arial"/>
                <a:cs typeface="Arial"/>
              </a:rPr>
              <a:t>You cannot assign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50" spc="10" dirty="0">
                <a:latin typeface="Courier" charset="0"/>
                <a:cs typeface="Courier" charset="0"/>
              </a:rPr>
              <a:t>Integer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expression </a:t>
            </a:r>
            <a:r>
              <a:rPr sz="1550" spc="75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a.get(0)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</a:t>
            </a:r>
            <a:r>
              <a:rPr sz="1550" spc="5" dirty="0">
                <a:latin typeface="Arial"/>
                <a:cs typeface="Arial"/>
              </a:rPr>
              <a:t> string.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8103"/>
            <a:ext cx="577850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Does </a:t>
            </a:r>
            <a:r>
              <a:rPr sz="1300" dirty="0">
                <a:latin typeface="Arial"/>
                <a:cs typeface="Arial"/>
              </a:rPr>
              <a:t>the following </a:t>
            </a:r>
            <a:r>
              <a:rPr sz="1300" spc="5" dirty="0">
                <a:latin typeface="Arial"/>
                <a:cs typeface="Arial"/>
              </a:rPr>
              <a:t>code </a:t>
            </a:r>
            <a:r>
              <a:rPr sz="1300" dirty="0">
                <a:latin typeface="Arial"/>
                <a:cs typeface="Arial"/>
              </a:rPr>
              <a:t>contain </a:t>
            </a:r>
            <a:r>
              <a:rPr sz="1300" spc="5" dirty="0">
                <a:latin typeface="Arial"/>
                <a:cs typeface="Arial"/>
              </a:rPr>
              <a:t>an </a:t>
            </a:r>
            <a:r>
              <a:rPr sz="1300" dirty="0">
                <a:latin typeface="Arial"/>
                <a:cs typeface="Arial"/>
              </a:rPr>
              <a:t>error? If so, is it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compile-time or run-time  error?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284400"/>
            <a:ext cx="5761355" cy="28828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1435" marR="3285490">
              <a:lnSpc>
                <a:spcPct val="101400"/>
              </a:lnSpc>
              <a:spcBef>
                <a:spcPts val="430"/>
              </a:spcBef>
            </a:pPr>
            <a:r>
              <a:rPr sz="750" spc="20" dirty="0">
                <a:latin typeface="Courier" charset="0"/>
                <a:cs typeface="Courier" charset="0"/>
              </a:rPr>
              <a:t>ArrayList&lt;Double&gt; a = new ArrayList&lt;&gt;();  a.add(3);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1693885"/>
            <a:ext cx="5059045" cy="59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This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 compile-time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Arial"/>
                <a:cs typeface="Arial"/>
              </a:rPr>
              <a:t>The compiler</a:t>
            </a:r>
            <a:r>
              <a:rPr sz="1550" spc="-3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won't  convert 3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Double</a:t>
            </a:r>
            <a:r>
              <a:rPr sz="1550" spc="10" dirty="0">
                <a:latin typeface="Arial"/>
                <a:cs typeface="Arial"/>
              </a:rPr>
              <a:t>. Remedy: </a:t>
            </a:r>
            <a:r>
              <a:rPr sz="1550" spc="5" dirty="0">
                <a:latin typeface="Arial"/>
                <a:cs typeface="Arial"/>
              </a:rPr>
              <a:t>Call</a:t>
            </a:r>
            <a:r>
              <a:rPr sz="1550" spc="-20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a.add(3.0)</a:t>
            </a:r>
            <a:r>
              <a:rPr sz="1550" spc="10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8085"/>
            <a:ext cx="577850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Does </a:t>
            </a:r>
            <a:r>
              <a:rPr sz="1300" dirty="0">
                <a:latin typeface="Arial"/>
                <a:cs typeface="Arial"/>
              </a:rPr>
              <a:t>the following </a:t>
            </a:r>
            <a:r>
              <a:rPr sz="1300" spc="5" dirty="0">
                <a:latin typeface="Arial"/>
                <a:cs typeface="Arial"/>
              </a:rPr>
              <a:t>code </a:t>
            </a:r>
            <a:r>
              <a:rPr sz="1300" dirty="0">
                <a:latin typeface="Arial"/>
                <a:cs typeface="Arial"/>
              </a:rPr>
              <a:t>contain </a:t>
            </a:r>
            <a:r>
              <a:rPr sz="1300" spc="5" dirty="0">
                <a:latin typeface="Arial"/>
                <a:cs typeface="Arial"/>
              </a:rPr>
              <a:t>an </a:t>
            </a:r>
            <a:r>
              <a:rPr sz="1300" dirty="0">
                <a:latin typeface="Arial"/>
                <a:cs typeface="Arial"/>
              </a:rPr>
              <a:t>error? If so, is it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compile-time or run-time  error?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284382"/>
            <a:ext cx="5761355" cy="40370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1435" marR="3766820">
              <a:lnSpc>
                <a:spcPct val="101400"/>
              </a:lnSpc>
              <a:spcBef>
                <a:spcPts val="430"/>
              </a:spcBef>
            </a:pPr>
            <a:r>
              <a:rPr sz="750" spc="20" dirty="0">
                <a:latin typeface="Courier" charset="0"/>
                <a:cs typeface="Courier" charset="0"/>
              </a:rPr>
              <a:t>LinkedList a = new LinkedList();  a.addFirst("3.14");</a:t>
            </a:r>
            <a:endParaRPr sz="750" dirty="0">
              <a:latin typeface="Courier" charset="0"/>
              <a:cs typeface="Courier" charset="0"/>
            </a:endParaRPr>
          </a:p>
          <a:p>
            <a:pPr marL="5143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double x = (Double)</a:t>
            </a:r>
            <a:r>
              <a:rPr sz="750" spc="-2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a.removeFirst();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1818718"/>
            <a:ext cx="5360670" cy="875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This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 run-time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Courier" charset="0"/>
                <a:cs typeface="Courier" charset="0"/>
              </a:rPr>
              <a:t>a.removeFirst()</a:t>
            </a:r>
            <a:r>
              <a:rPr sz="1550" spc="-47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yields  </a:t>
            </a:r>
            <a:r>
              <a:rPr sz="1550" spc="10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String</a:t>
            </a:r>
            <a:r>
              <a:rPr sz="1550" spc="-52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cannot be converted </a:t>
            </a:r>
            <a:r>
              <a:rPr sz="1550" spc="5" dirty="0">
                <a:latin typeface="Arial"/>
                <a:cs typeface="Arial"/>
              </a:rPr>
              <a:t>into </a:t>
            </a:r>
            <a:r>
              <a:rPr sz="1550" spc="10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Double</a:t>
            </a:r>
            <a:r>
              <a:rPr sz="1550" spc="10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50" i="1" spc="10" dirty="0">
                <a:latin typeface="Arial"/>
                <a:cs typeface="Arial"/>
              </a:rPr>
              <a:t>Remedy: </a:t>
            </a:r>
            <a:r>
              <a:rPr sz="1550" spc="5" dirty="0">
                <a:latin typeface="Arial"/>
                <a:cs typeface="Arial"/>
              </a:rPr>
              <a:t>Call </a:t>
            </a:r>
            <a:r>
              <a:rPr sz="1550" spc="10" dirty="0">
                <a:latin typeface="Courier" charset="0"/>
                <a:cs typeface="Courier" charset="0"/>
              </a:rPr>
              <a:t>a.addFirst(3.14);</a:t>
            </a:r>
            <a:endParaRPr sz="15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813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5" dirty="0"/>
              <a:t>Implementing </a:t>
            </a:r>
            <a:r>
              <a:rPr spc="65" dirty="0"/>
              <a:t>Generic</a:t>
            </a:r>
            <a:r>
              <a:rPr spc="-85" dirty="0"/>
              <a:t> </a:t>
            </a:r>
            <a:r>
              <a:rPr spc="175" dirty="0"/>
              <a:t>Classes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885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11032"/>
            <a:ext cx="519938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Example: simple generic class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stores </a:t>
            </a:r>
            <a:r>
              <a:rPr sz="1550" i="1" spc="10" dirty="0">
                <a:latin typeface="Arial"/>
                <a:cs typeface="Arial"/>
              </a:rPr>
              <a:t>pairs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arbitrary  </a:t>
            </a:r>
            <a:r>
              <a:rPr sz="1550" spc="10" dirty="0">
                <a:latin typeface="Arial"/>
                <a:cs typeface="Arial"/>
              </a:rPr>
              <a:t>objects such</a:t>
            </a:r>
            <a:r>
              <a:rPr sz="1550" spc="-9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as: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3805"/>
            <a:ext cx="5234940" cy="340478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Pair&lt;String, Integer&gt;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result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= new Pair&lt;&gt;("Harry Hacker",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1729);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205576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1907938"/>
            <a:ext cx="482536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Methods </a:t>
            </a:r>
            <a:r>
              <a:rPr sz="1550" spc="10" dirty="0">
                <a:latin typeface="Courier" charset="0"/>
                <a:cs typeface="Courier" charset="0"/>
              </a:rPr>
              <a:t>getFirst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and </a:t>
            </a:r>
            <a:r>
              <a:rPr sz="1550" spc="10" dirty="0">
                <a:latin typeface="Courier" charset="0"/>
                <a:cs typeface="Courier" charset="0"/>
              </a:rPr>
              <a:t>getSecond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retrieve</a:t>
            </a:r>
            <a:r>
              <a:rPr sz="1550" spc="1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first</a:t>
            </a:r>
            <a:r>
              <a:rPr sz="1550" spc="10" dirty="0">
                <a:latin typeface="Arial"/>
                <a:cs typeface="Arial"/>
              </a:rPr>
              <a:t> and  second values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6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pair: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165" y="2559630"/>
            <a:ext cx="5234940" cy="34689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5880" marR="2561590">
              <a:lnSpc>
                <a:spcPts val="1120"/>
              </a:lnSpc>
              <a:spcBef>
                <a:spcPts val="505"/>
              </a:spcBef>
            </a:pPr>
            <a:r>
              <a:rPr sz="950" spc="-5" dirty="0">
                <a:latin typeface="Courier" charset="0"/>
                <a:cs typeface="Courier" charset="0"/>
              </a:rPr>
              <a:t>String name = result.getFirst();  Integer number =</a:t>
            </a:r>
            <a:r>
              <a:rPr sz="950" spc="-6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result.getSecond();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9348" y="315267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9348" y="406230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61384" y="2995869"/>
            <a:ext cx="5166995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spc="10" dirty="0">
                <a:latin typeface="Arial"/>
                <a:cs typeface="Arial"/>
              </a:rPr>
              <a:t>Example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use: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a method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computes two values </a:t>
            </a:r>
            <a:r>
              <a:rPr sz="1550" spc="5" dirty="0">
                <a:latin typeface="Arial"/>
                <a:cs typeface="Arial"/>
              </a:rPr>
              <a:t>at  </a:t>
            </a:r>
            <a:r>
              <a:rPr sz="1550" spc="10" dirty="0">
                <a:latin typeface="Arial"/>
                <a:cs typeface="Arial"/>
              </a:rPr>
              <a:t>the same time (method returns a </a:t>
            </a:r>
            <a:r>
              <a:rPr sz="1550" spc="10" dirty="0">
                <a:latin typeface="Courier" charset="0"/>
                <a:cs typeface="Courier" charset="0"/>
              </a:rPr>
              <a:t>Pair&lt;String,  Integer&gt;</a:t>
            </a:r>
            <a:r>
              <a:rPr sz="1550" spc="10" dirty="0">
                <a:latin typeface="Arial"/>
                <a:cs typeface="Arial"/>
              </a:rPr>
              <a:t>).</a:t>
            </a:r>
            <a:endParaRPr sz="1550" dirty="0">
              <a:latin typeface="Arial"/>
              <a:cs typeface="Arial"/>
            </a:endParaRPr>
          </a:p>
          <a:p>
            <a:pPr marL="12700" marR="23495">
              <a:lnSpc>
                <a:spcPct val="117000"/>
              </a:lnSpc>
              <a:spcBef>
                <a:spcPts val="490"/>
              </a:spcBef>
            </a:pPr>
            <a:r>
              <a:rPr sz="1550" spc="10" dirty="0">
                <a:latin typeface="Arial"/>
                <a:cs typeface="Arial"/>
              </a:rPr>
              <a:t>Generic </a:t>
            </a:r>
            <a:r>
              <a:rPr sz="1550" spc="10" dirty="0">
                <a:latin typeface="Courier" charset="0"/>
                <a:cs typeface="Courier" charset="0"/>
              </a:rPr>
              <a:t>Pair</a:t>
            </a:r>
            <a:r>
              <a:rPr sz="1550" spc="-56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class requires two type parameters, one </a:t>
            </a:r>
            <a:r>
              <a:rPr sz="1550" spc="5" dirty="0">
                <a:latin typeface="Arial"/>
                <a:cs typeface="Arial"/>
              </a:rPr>
              <a:t>for  </a:t>
            </a:r>
            <a:r>
              <a:rPr sz="1550" spc="10" dirty="0">
                <a:latin typeface="Arial"/>
                <a:cs typeface="Arial"/>
              </a:rPr>
              <a:t>each element type enclosed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angle</a:t>
            </a:r>
            <a:r>
              <a:rPr sz="1550" spc="-6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brackets: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2165" y="4566166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 Pair&lt;T,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S&gt;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651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5" dirty="0"/>
              <a:t>Implementing </a:t>
            </a:r>
            <a:r>
              <a:rPr spc="65" dirty="0"/>
              <a:t>Generic</a:t>
            </a:r>
            <a:r>
              <a:rPr spc="-100" dirty="0"/>
              <a:t> </a:t>
            </a:r>
            <a:r>
              <a:rPr spc="145" dirty="0"/>
              <a:t>Types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869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27974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9348" y="447236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384" y="766224"/>
            <a:ext cx="5121910" cy="4184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970915">
              <a:lnSpc>
                <a:spcPct val="135900"/>
              </a:lnSpc>
            </a:pPr>
            <a:r>
              <a:rPr sz="1550" spc="10" dirty="0">
                <a:latin typeface="Arial"/>
                <a:cs typeface="Arial"/>
              </a:rPr>
              <a:t>Use short uppercase names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type</a:t>
            </a:r>
            <a:r>
              <a:rPr sz="1550" spc="-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variables.  </a:t>
            </a:r>
            <a:r>
              <a:rPr sz="1550" spc="10" dirty="0">
                <a:latin typeface="Arial"/>
                <a:cs typeface="Arial"/>
              </a:rPr>
              <a:t>Examples</a:t>
            </a:r>
            <a:endParaRPr sz="1550" dirty="0">
              <a:latin typeface="Arial"/>
              <a:cs typeface="Arial"/>
            </a:endParaRPr>
          </a:p>
          <a:p>
            <a:pPr marR="1400175" algn="ctr">
              <a:lnSpc>
                <a:spcPct val="100000"/>
              </a:lnSpc>
              <a:spcBef>
                <a:spcPts val="1240"/>
              </a:spcBef>
              <a:tabLst>
                <a:tab pos="2059939" algn="l"/>
              </a:tabLst>
            </a:pPr>
            <a:r>
              <a:rPr sz="1400" spc="5" dirty="0">
                <a:solidFill>
                  <a:srgbClr val="006BB8"/>
                </a:solidFill>
                <a:latin typeface="Arial"/>
                <a:cs typeface="Arial"/>
              </a:rPr>
              <a:t>Type  </a:t>
            </a:r>
            <a:r>
              <a:rPr sz="1400" spc="45" dirty="0">
                <a:solidFill>
                  <a:srgbClr val="006BB8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06BB8"/>
                </a:solidFill>
                <a:latin typeface="Arial"/>
                <a:cs typeface="Arial"/>
              </a:rPr>
              <a:t>Variable	Meaning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82344">
              <a:lnSpc>
                <a:spcPct val="100000"/>
              </a:lnSpc>
              <a:tabLst>
                <a:tab pos="1790064" algn="l"/>
              </a:tabLst>
            </a:pPr>
            <a:r>
              <a:rPr sz="1400" spc="5" dirty="0">
                <a:latin typeface="Courier" charset="0"/>
                <a:cs typeface="Courier" charset="0"/>
              </a:rPr>
              <a:t>E	</a:t>
            </a:r>
            <a:r>
              <a:rPr sz="2100" spc="7" baseline="1984" dirty="0">
                <a:latin typeface="Arial"/>
                <a:cs typeface="Arial"/>
              </a:rPr>
              <a:t>Element type in a</a:t>
            </a:r>
            <a:r>
              <a:rPr sz="2100" spc="-97" baseline="1984" dirty="0">
                <a:latin typeface="Arial"/>
                <a:cs typeface="Arial"/>
              </a:rPr>
              <a:t> </a:t>
            </a:r>
            <a:r>
              <a:rPr sz="2100" spc="7" baseline="1984" dirty="0">
                <a:latin typeface="Arial"/>
                <a:cs typeface="Arial"/>
              </a:rPr>
              <a:t>collection</a:t>
            </a:r>
            <a:endParaRPr sz="2100" baseline="1984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982344">
              <a:lnSpc>
                <a:spcPct val="100000"/>
              </a:lnSpc>
              <a:tabLst>
                <a:tab pos="1790064" algn="l"/>
              </a:tabLst>
            </a:pPr>
            <a:r>
              <a:rPr sz="1400" spc="5" dirty="0">
                <a:latin typeface="Courier" charset="0"/>
                <a:cs typeface="Courier" charset="0"/>
              </a:rPr>
              <a:t>K	</a:t>
            </a:r>
            <a:r>
              <a:rPr sz="2100" spc="7" baseline="1984" dirty="0">
                <a:latin typeface="Arial"/>
                <a:cs typeface="Arial"/>
              </a:rPr>
              <a:t>Key type in a</a:t>
            </a:r>
            <a:r>
              <a:rPr sz="2100" spc="-135" baseline="1984" dirty="0">
                <a:latin typeface="Arial"/>
                <a:cs typeface="Arial"/>
              </a:rPr>
              <a:t> </a:t>
            </a:r>
            <a:r>
              <a:rPr sz="2100" spc="15" baseline="1984" dirty="0">
                <a:latin typeface="Arial"/>
                <a:cs typeface="Arial"/>
              </a:rPr>
              <a:t>map</a:t>
            </a:r>
            <a:endParaRPr sz="2100" baseline="1984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982344">
              <a:lnSpc>
                <a:spcPct val="100000"/>
              </a:lnSpc>
              <a:tabLst>
                <a:tab pos="1790064" algn="l"/>
              </a:tabLst>
            </a:pPr>
            <a:r>
              <a:rPr sz="1400" spc="5" dirty="0">
                <a:latin typeface="Courier" charset="0"/>
                <a:cs typeface="Courier" charset="0"/>
              </a:rPr>
              <a:t>V	</a:t>
            </a:r>
            <a:r>
              <a:rPr sz="2100" spc="7" baseline="1984" dirty="0">
                <a:latin typeface="Arial"/>
                <a:cs typeface="Arial"/>
              </a:rPr>
              <a:t>Value type in a</a:t>
            </a:r>
            <a:r>
              <a:rPr sz="2100" spc="-127" baseline="1984" dirty="0">
                <a:latin typeface="Arial"/>
                <a:cs typeface="Arial"/>
              </a:rPr>
              <a:t> </a:t>
            </a:r>
            <a:r>
              <a:rPr sz="2100" spc="15" baseline="1984" dirty="0">
                <a:latin typeface="Arial"/>
                <a:cs typeface="Arial"/>
              </a:rPr>
              <a:t>map</a:t>
            </a:r>
            <a:endParaRPr sz="2100" baseline="1984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982344">
              <a:lnSpc>
                <a:spcPct val="100000"/>
              </a:lnSpc>
              <a:tabLst>
                <a:tab pos="1790064" algn="l"/>
              </a:tabLst>
            </a:pPr>
            <a:r>
              <a:rPr sz="1400" spc="5" dirty="0">
                <a:latin typeface="Courier" charset="0"/>
                <a:cs typeface="Courier" charset="0"/>
              </a:rPr>
              <a:t>T	</a:t>
            </a:r>
            <a:r>
              <a:rPr sz="2100" spc="7" baseline="1984" dirty="0">
                <a:latin typeface="Arial"/>
                <a:cs typeface="Arial"/>
              </a:rPr>
              <a:t>General</a:t>
            </a:r>
            <a:r>
              <a:rPr sz="2100" spc="-104" baseline="1984" dirty="0">
                <a:latin typeface="Arial"/>
                <a:cs typeface="Arial"/>
              </a:rPr>
              <a:t> </a:t>
            </a:r>
            <a:r>
              <a:rPr sz="2100" spc="7" baseline="1984" dirty="0">
                <a:latin typeface="Arial"/>
                <a:cs typeface="Arial"/>
              </a:rPr>
              <a:t>type</a:t>
            </a:r>
            <a:endParaRPr sz="2100" baseline="1984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878205">
              <a:lnSpc>
                <a:spcPct val="100000"/>
              </a:lnSpc>
              <a:tabLst>
                <a:tab pos="1790064" algn="l"/>
              </a:tabLst>
            </a:pPr>
            <a:r>
              <a:rPr sz="1400" dirty="0">
                <a:latin typeface="Courier" charset="0"/>
                <a:cs typeface="Courier" charset="0"/>
              </a:rPr>
              <a:t>S</a:t>
            </a:r>
            <a:r>
              <a:rPr sz="1400" dirty="0">
                <a:latin typeface="Arial"/>
                <a:cs typeface="Arial"/>
              </a:rPr>
              <a:t>,  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spc="5" dirty="0">
                <a:latin typeface="Courier" charset="0"/>
                <a:cs typeface="Courier" charset="0"/>
              </a:rPr>
              <a:t>U	</a:t>
            </a:r>
            <a:r>
              <a:rPr sz="2100" spc="7" baseline="1984" dirty="0">
                <a:latin typeface="Arial"/>
                <a:cs typeface="Arial"/>
              </a:rPr>
              <a:t>Additional general</a:t>
            </a:r>
            <a:r>
              <a:rPr sz="2100" spc="-89" baseline="1984" dirty="0">
                <a:latin typeface="Arial"/>
                <a:cs typeface="Arial"/>
              </a:rPr>
              <a:t> </a:t>
            </a:r>
            <a:r>
              <a:rPr sz="2100" spc="7" baseline="1984" dirty="0">
                <a:latin typeface="Arial"/>
                <a:cs typeface="Arial"/>
              </a:rPr>
              <a:t>types</a:t>
            </a:r>
            <a:endParaRPr sz="2100" baseline="1984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Place the type variables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a generic class </a:t>
            </a:r>
            <a:r>
              <a:rPr sz="1550" spc="5" dirty="0">
                <a:latin typeface="Arial"/>
                <a:cs typeface="Arial"/>
              </a:rPr>
              <a:t>after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class  name, enclosed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angle brackets (&lt; and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&gt;):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165" y="4967311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 Pair&lt;T,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S&gt;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9348" y="34321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9348" y="124392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1384" y="186410"/>
            <a:ext cx="5389245" cy="1482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spc="15" dirty="0">
                <a:latin typeface="Arial"/>
                <a:cs typeface="Arial"/>
              </a:rPr>
              <a:t>When </a:t>
            </a:r>
            <a:r>
              <a:rPr sz="1550" spc="10" dirty="0">
                <a:latin typeface="Arial"/>
                <a:cs typeface="Arial"/>
              </a:rPr>
              <a:t>you declare the instance variables and methods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8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  </a:t>
            </a:r>
            <a:r>
              <a:rPr sz="1550" spc="10" dirty="0">
                <a:latin typeface="Courier" charset="0"/>
                <a:cs typeface="Courier" charset="0"/>
              </a:rPr>
              <a:t>Pair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class, </a:t>
            </a:r>
            <a:r>
              <a:rPr sz="1550" spc="10" dirty="0">
                <a:latin typeface="Arial"/>
                <a:cs typeface="Arial"/>
              </a:rPr>
              <a:t>use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variable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T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" dirty="0">
                <a:latin typeface="Arial"/>
                <a:cs typeface="Arial"/>
              </a:rPr>
              <a:t> first </a:t>
            </a:r>
            <a:r>
              <a:rPr sz="1550" spc="10" dirty="0">
                <a:latin typeface="Arial"/>
                <a:cs typeface="Arial"/>
              </a:rPr>
              <a:t>element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and  </a:t>
            </a:r>
            <a:r>
              <a:rPr sz="1550" spc="10" dirty="0">
                <a:latin typeface="Courier" charset="0"/>
                <a:cs typeface="Courier" charset="0"/>
              </a:rPr>
              <a:t>S</a:t>
            </a:r>
            <a:r>
              <a:rPr sz="1550" spc="-57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the second element type.</a:t>
            </a:r>
            <a:endParaRPr sz="1550" dirty="0">
              <a:latin typeface="Arial"/>
              <a:cs typeface="Arial"/>
            </a:endParaRPr>
          </a:p>
          <a:p>
            <a:pPr marL="12700" marR="260350">
              <a:lnSpc>
                <a:spcPct val="117000"/>
              </a:lnSpc>
              <a:spcBef>
                <a:spcPts val="420"/>
              </a:spcBef>
            </a:pPr>
            <a:r>
              <a:rPr sz="1550" spc="10" dirty="0">
                <a:latin typeface="Arial"/>
                <a:cs typeface="Arial"/>
              </a:rPr>
              <a:t>Use type parameters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the types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generic instance  </a:t>
            </a:r>
            <a:r>
              <a:rPr sz="1550" spc="5" dirty="0">
                <a:latin typeface="Arial"/>
                <a:cs typeface="Arial"/>
              </a:rPr>
              <a:t>variables, </a:t>
            </a:r>
            <a:r>
              <a:rPr sz="1550" spc="10" dirty="0">
                <a:latin typeface="Arial"/>
                <a:cs typeface="Arial"/>
              </a:rPr>
              <a:t>method parameter </a:t>
            </a:r>
            <a:r>
              <a:rPr sz="1550" spc="5" dirty="0">
                <a:latin typeface="Arial"/>
                <a:cs typeface="Arial"/>
              </a:rPr>
              <a:t>variables, </a:t>
            </a:r>
            <a:r>
              <a:rPr sz="1550" spc="10" dirty="0">
                <a:latin typeface="Arial"/>
                <a:cs typeface="Arial"/>
              </a:rPr>
              <a:t>and return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values.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488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85" dirty="0"/>
              <a:t>Class</a:t>
            </a:r>
            <a:r>
              <a:rPr spc="-25" dirty="0"/>
              <a:t> </a:t>
            </a:r>
            <a:r>
              <a:rPr spc="290" dirty="0">
                <a:latin typeface="Trebuchet MS"/>
                <a:cs typeface="Trebuchet MS"/>
              </a:rPr>
              <a:t>Pair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053" y="847060"/>
            <a:ext cx="5761355" cy="161417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40"/>
              </a:spcBef>
            </a:pPr>
            <a:r>
              <a:rPr sz="750" spc="20" dirty="0">
                <a:latin typeface="Courier" charset="0"/>
                <a:cs typeface="Courier" charset="0"/>
              </a:rPr>
              <a:t>public class Pair&lt;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T</a:t>
            </a:r>
            <a:r>
              <a:rPr sz="750" spc="20" dirty="0">
                <a:latin typeface="Courier" charset="0"/>
                <a:cs typeface="Courier" charset="0"/>
              </a:rPr>
              <a:t>,</a:t>
            </a:r>
            <a:r>
              <a:rPr sz="750" spc="-50" dirty="0">
                <a:latin typeface="Courier" charset="0"/>
                <a:cs typeface="Courier" charset="0"/>
              </a:rPr>
              <a:t> </a:t>
            </a:r>
            <a:r>
              <a:rPr sz="750" spc="15" dirty="0">
                <a:solidFill>
                  <a:srgbClr val="006BB8"/>
                </a:solidFill>
                <a:latin typeface="Courier" charset="0"/>
                <a:cs typeface="Courier" charset="0"/>
              </a:rPr>
              <a:t>S</a:t>
            </a:r>
            <a:r>
              <a:rPr sz="750" spc="15" dirty="0">
                <a:latin typeface="Courier" charset="0"/>
                <a:cs typeface="Courier" charset="0"/>
              </a:rPr>
              <a:t>&gt;</a:t>
            </a:r>
            <a:endParaRPr sz="750" dirty="0">
              <a:latin typeface="Courier" charset="0"/>
              <a:cs typeface="Courier" charset="0"/>
            </a:endParaRPr>
          </a:p>
          <a:p>
            <a:pPr marL="5143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31775" marR="4489450">
              <a:lnSpc>
                <a:spcPct val="101400"/>
              </a:lnSpc>
            </a:pPr>
            <a:r>
              <a:rPr sz="750" spc="20" dirty="0">
                <a:latin typeface="Courier" charset="0"/>
                <a:cs typeface="Courier" charset="0"/>
              </a:rPr>
              <a:t>private 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T </a:t>
            </a:r>
            <a:r>
              <a:rPr sz="750" spc="20" dirty="0">
                <a:latin typeface="Courier" charset="0"/>
                <a:cs typeface="Courier" charset="0"/>
              </a:rPr>
              <a:t>first;  private 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S</a:t>
            </a:r>
            <a:r>
              <a:rPr sz="750" spc="-5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second;</a:t>
            </a:r>
            <a:endParaRPr sz="7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750" spc="20" dirty="0">
                <a:latin typeface="Courier" charset="0"/>
                <a:cs typeface="Courier" charset="0"/>
              </a:rPr>
              <a:t>public Pair(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T </a:t>
            </a:r>
            <a:r>
              <a:rPr sz="750" spc="20" dirty="0">
                <a:latin typeface="Courier" charset="0"/>
                <a:cs typeface="Courier" charset="0"/>
              </a:rPr>
              <a:t>firstElement, 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S</a:t>
            </a:r>
            <a:r>
              <a:rPr sz="750" spc="-1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secondElement)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412115" marR="3947160">
              <a:lnSpc>
                <a:spcPct val="101400"/>
              </a:lnSpc>
            </a:pPr>
            <a:r>
              <a:rPr sz="750" spc="20" dirty="0">
                <a:latin typeface="Courier" charset="0"/>
                <a:cs typeface="Courier" charset="0"/>
              </a:rPr>
              <a:t>first = firstElement;  second =</a:t>
            </a:r>
            <a:r>
              <a:rPr sz="750" spc="-4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secondElement;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31775" marR="3165475">
              <a:lnSpc>
                <a:spcPct val="101400"/>
              </a:lnSpc>
            </a:pPr>
            <a:r>
              <a:rPr sz="750" spc="20" dirty="0">
                <a:latin typeface="Courier" charset="0"/>
                <a:cs typeface="Courier" charset="0"/>
              </a:rPr>
              <a:t>public 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T </a:t>
            </a:r>
            <a:r>
              <a:rPr sz="750" spc="20" dirty="0">
                <a:latin typeface="Courier" charset="0"/>
                <a:cs typeface="Courier" charset="0"/>
              </a:rPr>
              <a:t>getFirst() { return first; }  public </a:t>
            </a:r>
            <a:r>
              <a:rPr sz="750" spc="20" dirty="0">
                <a:solidFill>
                  <a:srgbClr val="006BB8"/>
                </a:solidFill>
                <a:latin typeface="Courier" charset="0"/>
                <a:cs typeface="Courier" charset="0"/>
              </a:rPr>
              <a:t>S </a:t>
            </a:r>
            <a:r>
              <a:rPr sz="750" spc="20" dirty="0">
                <a:latin typeface="Courier" charset="0"/>
                <a:cs typeface="Courier" charset="0"/>
              </a:rPr>
              <a:t>getSecond() { return second;</a:t>
            </a:r>
            <a:r>
              <a:rPr sz="750" spc="-2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5143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949471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5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797" y="280393"/>
            <a:ext cx="4347845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60"/>
              </a:lnSpc>
            </a:pPr>
            <a:r>
              <a:rPr spc="95" dirty="0">
                <a:solidFill>
                  <a:srgbClr val="125859"/>
                </a:solidFill>
              </a:rPr>
              <a:t>Syntax </a:t>
            </a:r>
            <a:r>
              <a:rPr spc="15" dirty="0">
                <a:solidFill>
                  <a:srgbClr val="125859"/>
                </a:solidFill>
              </a:rPr>
              <a:t>18.1 </a:t>
            </a:r>
            <a:r>
              <a:rPr spc="125" dirty="0"/>
              <a:t>Declaring </a:t>
            </a:r>
            <a:r>
              <a:rPr spc="110" dirty="0"/>
              <a:t>a</a:t>
            </a:r>
            <a:r>
              <a:rPr spc="-140" dirty="0"/>
              <a:t> </a:t>
            </a:r>
            <a:r>
              <a:rPr spc="65" dirty="0"/>
              <a:t>Generic  </a:t>
            </a:r>
            <a:r>
              <a:rPr spc="185" dirty="0"/>
              <a:t>Class</a:t>
            </a:r>
          </a:p>
        </p:txBody>
      </p:sp>
      <p:sp>
        <p:nvSpPr>
          <p:cNvPr id="4" name="object 4"/>
          <p:cNvSpPr/>
          <p:nvPr/>
        </p:nvSpPr>
        <p:spPr>
          <a:xfrm>
            <a:off x="843946" y="1182839"/>
            <a:ext cx="6242646" cy="2621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32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section_2/</a:t>
            </a:r>
            <a:r>
              <a:rPr spc="65" dirty="0">
                <a:solidFill>
                  <a:srgbClr val="000080"/>
                </a:solidFill>
                <a:hlinkClick r:id="rId2"/>
              </a:rPr>
              <a:t>Pair.java</a:t>
            </a:r>
          </a:p>
        </p:txBody>
      </p:sp>
      <p:sp>
        <p:nvSpPr>
          <p:cNvPr id="4" name="object 4"/>
          <p:cNvSpPr/>
          <p:nvPr/>
        </p:nvSpPr>
        <p:spPr>
          <a:xfrm>
            <a:off x="678955" y="846897"/>
            <a:ext cx="5975350" cy="1346835"/>
          </a:xfrm>
          <a:custGeom>
            <a:avLst/>
            <a:gdLst/>
            <a:ahLst/>
            <a:cxnLst/>
            <a:rect l="l" t="t" r="r" b="b"/>
            <a:pathLst>
              <a:path w="5975350" h="1346835">
                <a:moveTo>
                  <a:pt x="0" y="0"/>
                </a:moveTo>
                <a:lnTo>
                  <a:pt x="5975019" y="0"/>
                </a:lnTo>
                <a:lnTo>
                  <a:pt x="5975019" y="1346608"/>
                </a:lnTo>
                <a:lnTo>
                  <a:pt x="0" y="1346608"/>
                </a:lnTo>
                <a:lnTo>
                  <a:pt x="0" y="0"/>
                </a:lnTo>
                <a:close/>
              </a:path>
            </a:pathLst>
          </a:custGeom>
          <a:ln w="89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3906" y="916923"/>
            <a:ext cx="3563620" cy="1240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35"/>
              </a:lnSpc>
              <a:tabLst>
                <a:tab pos="208279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1	</a:t>
            </a:r>
            <a:r>
              <a:rPr sz="900" spc="5" dirty="0">
                <a:latin typeface="Courier New"/>
                <a:cs typeface="Courier New"/>
              </a:rPr>
              <a:t>/**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ts val="1275"/>
              </a:lnSpc>
              <a:tabLst>
                <a:tab pos="417195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2	</a:t>
            </a:r>
            <a:r>
              <a:rPr sz="1100" spc="10" dirty="0">
                <a:solidFill>
                  <a:srgbClr val="0073FF"/>
                </a:solidFill>
                <a:latin typeface="Times New Roman"/>
                <a:cs typeface="Times New Roman"/>
              </a:rPr>
              <a:t>This </a:t>
            </a:r>
            <a:r>
              <a:rPr sz="1100" spc="5" dirty="0">
                <a:solidFill>
                  <a:srgbClr val="0073FF"/>
                </a:solidFill>
                <a:latin typeface="Times New Roman"/>
                <a:cs typeface="Times New Roman"/>
              </a:rPr>
              <a:t>class collects </a:t>
            </a:r>
            <a:r>
              <a:rPr sz="1100" spc="10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1100" spc="5" dirty="0">
                <a:solidFill>
                  <a:srgbClr val="0073FF"/>
                </a:solidFill>
                <a:latin typeface="Times New Roman"/>
                <a:cs typeface="Times New Roman"/>
              </a:rPr>
              <a:t>pair of </a:t>
            </a:r>
            <a:r>
              <a:rPr sz="1100" spc="10" dirty="0">
                <a:solidFill>
                  <a:srgbClr val="0073FF"/>
                </a:solidFill>
                <a:latin typeface="Times New Roman"/>
                <a:cs typeface="Times New Roman"/>
              </a:rPr>
              <a:t>elements </a:t>
            </a:r>
            <a:r>
              <a:rPr sz="1100" spc="5" dirty="0">
                <a:solidFill>
                  <a:srgbClr val="0073FF"/>
                </a:solidFill>
                <a:latin typeface="Times New Roman"/>
                <a:cs typeface="Times New Roman"/>
              </a:rPr>
              <a:t>of different</a:t>
            </a:r>
            <a:r>
              <a:rPr sz="1100" spc="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1100" spc="5" dirty="0">
                <a:solidFill>
                  <a:srgbClr val="0073FF"/>
                </a:solidFill>
                <a:latin typeface="Times New Roman"/>
                <a:cs typeface="Times New Roman"/>
              </a:rPr>
              <a:t>types.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ts val="1065"/>
              </a:lnSpc>
              <a:tabLst>
                <a:tab pos="208279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3	</a:t>
            </a:r>
            <a:r>
              <a:rPr sz="900" spc="5" dirty="0">
                <a:latin typeface="Courier New"/>
                <a:cs typeface="Courier New"/>
              </a:rPr>
              <a:t>*/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ts val="1055"/>
              </a:lnSpc>
              <a:tabLst>
                <a:tab pos="208279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900" spc="5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900" spc="5" dirty="0">
                <a:latin typeface="Courier New"/>
                <a:cs typeface="Courier New"/>
              </a:rPr>
              <a:t>Pair&lt;T,</a:t>
            </a:r>
            <a:r>
              <a:rPr sz="900" spc="-45" dirty="0">
                <a:latin typeface="Courier New"/>
                <a:cs typeface="Courier New"/>
              </a:rPr>
              <a:t> </a:t>
            </a:r>
            <a:r>
              <a:rPr sz="900" spc="5" dirty="0">
                <a:latin typeface="Courier New"/>
                <a:cs typeface="Courier New"/>
              </a:rPr>
              <a:t>S&gt;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ts val="1055"/>
              </a:lnSpc>
              <a:tabLst>
                <a:tab pos="208279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5	</a:t>
            </a:r>
            <a:r>
              <a:rPr sz="900" spc="5" dirty="0"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417195" indent="-417195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6"/>
              <a:tabLst>
                <a:tab pos="417830" algn="l"/>
              </a:tabLst>
            </a:pPr>
            <a:r>
              <a:rPr sz="900" spc="5" dirty="0">
                <a:solidFill>
                  <a:srgbClr val="CC0066"/>
                </a:solidFill>
                <a:latin typeface="Courier New"/>
                <a:cs typeface="Courier New"/>
              </a:rPr>
              <a:t>private </a:t>
            </a:r>
            <a:r>
              <a:rPr sz="900" spc="5" dirty="0">
                <a:latin typeface="Courier New"/>
                <a:cs typeface="Courier New"/>
              </a:rPr>
              <a:t>T</a:t>
            </a:r>
            <a:r>
              <a:rPr sz="900" spc="-60" dirty="0">
                <a:latin typeface="Courier New"/>
                <a:cs typeface="Courier New"/>
              </a:rPr>
              <a:t> </a:t>
            </a:r>
            <a:r>
              <a:rPr sz="900" spc="5" dirty="0">
                <a:latin typeface="Courier New"/>
                <a:cs typeface="Courier New"/>
              </a:rPr>
              <a:t>first;</a:t>
            </a:r>
            <a:endParaRPr sz="900">
              <a:latin typeface="Courier New"/>
              <a:cs typeface="Courier New"/>
            </a:endParaRPr>
          </a:p>
          <a:p>
            <a:pPr marL="417195" indent="-417195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6"/>
              <a:tabLst>
                <a:tab pos="417830" algn="l"/>
              </a:tabLst>
            </a:pPr>
            <a:r>
              <a:rPr sz="900" spc="5" dirty="0">
                <a:solidFill>
                  <a:srgbClr val="CC0066"/>
                </a:solidFill>
                <a:latin typeface="Courier New"/>
                <a:cs typeface="Courier New"/>
              </a:rPr>
              <a:t>private </a:t>
            </a:r>
            <a:r>
              <a:rPr sz="900" spc="5" dirty="0">
                <a:latin typeface="Courier New"/>
                <a:cs typeface="Courier New"/>
              </a:rPr>
              <a:t>S</a:t>
            </a:r>
            <a:r>
              <a:rPr sz="900" spc="-55" dirty="0">
                <a:latin typeface="Courier New"/>
                <a:cs typeface="Courier New"/>
              </a:rPr>
              <a:t> </a:t>
            </a:r>
            <a:r>
              <a:rPr sz="900" spc="5" dirty="0">
                <a:latin typeface="Courier New"/>
                <a:cs typeface="Courier New"/>
              </a:rPr>
              <a:t>second;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ts val="1055"/>
              </a:lnSpc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ts val="1065"/>
              </a:lnSpc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1278" y="2013830"/>
            <a:ext cx="208915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900" spc="5" dirty="0">
                <a:latin typeface="Courier New"/>
                <a:cs typeface="Courier New"/>
              </a:rPr>
              <a:t>/**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06921" y="852864"/>
            <a:ext cx="142689" cy="13377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98005" y="852864"/>
            <a:ext cx="151608" cy="383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181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section_2/</a:t>
            </a:r>
            <a:r>
              <a:rPr spc="85" dirty="0">
                <a:solidFill>
                  <a:srgbClr val="000080"/>
                </a:solidFill>
                <a:hlinkClick r:id="rId2"/>
              </a:rPr>
              <a:t>PairDemo.java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8955" y="846752"/>
            <a:ext cx="5975350" cy="1346835"/>
          </a:xfrm>
          <a:prstGeom prst="rect">
            <a:avLst/>
          </a:prstGeom>
          <a:ln w="8917">
            <a:solidFill>
              <a:srgbClr val="000000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10185">
              <a:lnSpc>
                <a:spcPts val="1065"/>
              </a:lnSpc>
              <a:spcBef>
                <a:spcPts val="515"/>
              </a:spcBef>
              <a:tabLst>
                <a:tab pos="418465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1	</a:t>
            </a:r>
            <a:r>
              <a:rPr sz="900" spc="5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900" spc="-4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900" spc="5" dirty="0">
                <a:latin typeface="Courier New"/>
                <a:cs typeface="Courier New"/>
              </a:rPr>
              <a:t>PairDemo</a:t>
            </a:r>
            <a:endParaRPr sz="900">
              <a:latin typeface="Courier New"/>
              <a:cs typeface="Courier New"/>
            </a:endParaRPr>
          </a:p>
          <a:p>
            <a:pPr marL="210185">
              <a:lnSpc>
                <a:spcPts val="1055"/>
              </a:lnSpc>
              <a:tabLst>
                <a:tab pos="418465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2	</a:t>
            </a:r>
            <a:r>
              <a:rPr sz="900" spc="5" dirty="0"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210185">
              <a:lnSpc>
                <a:spcPts val="1055"/>
              </a:lnSpc>
              <a:tabLst>
                <a:tab pos="627380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3	</a:t>
            </a:r>
            <a:r>
              <a:rPr sz="900" spc="5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900" spc="5" dirty="0">
                <a:latin typeface="Courier New"/>
                <a:cs typeface="Courier New"/>
              </a:rPr>
              <a:t>main(String[]</a:t>
            </a:r>
            <a:r>
              <a:rPr sz="900" spc="-5" dirty="0">
                <a:latin typeface="Courier New"/>
                <a:cs typeface="Courier New"/>
              </a:rPr>
              <a:t> </a:t>
            </a:r>
            <a:r>
              <a:rPr sz="900" spc="5" dirty="0">
                <a:latin typeface="Courier New"/>
                <a:cs typeface="Courier New"/>
              </a:rPr>
              <a:t>args)</a:t>
            </a:r>
            <a:endParaRPr sz="900">
              <a:latin typeface="Courier New"/>
              <a:cs typeface="Courier New"/>
            </a:endParaRPr>
          </a:p>
          <a:p>
            <a:pPr marL="210185">
              <a:lnSpc>
                <a:spcPts val="1055"/>
              </a:lnSpc>
              <a:tabLst>
                <a:tab pos="627380" algn="l"/>
              </a:tabLst>
            </a:pPr>
            <a:r>
              <a:rPr sz="900" b="1" spc="5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900" spc="5" dirty="0"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836294" indent="-626110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5"/>
              <a:tabLst>
                <a:tab pos="836930" algn="l"/>
              </a:tabLst>
            </a:pPr>
            <a:r>
              <a:rPr sz="900" spc="5" dirty="0">
                <a:latin typeface="Courier New"/>
                <a:cs typeface="Courier New"/>
              </a:rPr>
              <a:t>String[] names = { </a:t>
            </a:r>
            <a:r>
              <a:rPr sz="900" spc="5" dirty="0">
                <a:solidFill>
                  <a:srgbClr val="1F9060"/>
                </a:solidFill>
                <a:latin typeface="Courier New"/>
                <a:cs typeface="Courier New"/>
              </a:rPr>
              <a:t>"Tom", "Diana", "Harry" </a:t>
            </a:r>
            <a:r>
              <a:rPr sz="900" spc="5" dirty="0">
                <a:latin typeface="Courier New"/>
                <a:cs typeface="Courier New"/>
              </a:rPr>
              <a:t>};</a:t>
            </a:r>
            <a:endParaRPr sz="900">
              <a:latin typeface="Courier New"/>
              <a:cs typeface="Courier New"/>
            </a:endParaRPr>
          </a:p>
          <a:p>
            <a:pPr marL="836294" indent="-626110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5"/>
              <a:tabLst>
                <a:tab pos="836930" algn="l"/>
              </a:tabLst>
            </a:pPr>
            <a:r>
              <a:rPr sz="900" spc="5" dirty="0">
                <a:latin typeface="Courier New"/>
                <a:cs typeface="Courier New"/>
              </a:rPr>
              <a:t>Pair&lt;String, Integer&gt; result = firstContaining(names,</a:t>
            </a:r>
            <a:r>
              <a:rPr sz="900" spc="45" dirty="0">
                <a:latin typeface="Courier New"/>
                <a:cs typeface="Courier New"/>
              </a:rPr>
              <a:t> </a:t>
            </a:r>
            <a:r>
              <a:rPr sz="900" spc="5" dirty="0">
                <a:solidFill>
                  <a:srgbClr val="1F9060"/>
                </a:solidFill>
                <a:latin typeface="Courier New"/>
                <a:cs typeface="Courier New"/>
              </a:rPr>
              <a:t>"a"</a:t>
            </a:r>
            <a:r>
              <a:rPr sz="900" spc="5" dirty="0"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836294" indent="-626110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5"/>
              <a:tabLst>
                <a:tab pos="836930" algn="l"/>
              </a:tabLst>
            </a:pPr>
            <a:r>
              <a:rPr sz="900" spc="5" dirty="0">
                <a:latin typeface="Courier New"/>
                <a:cs typeface="Courier New"/>
              </a:rPr>
              <a:t>System.out.println(result.getFirst());</a:t>
            </a:r>
            <a:endParaRPr sz="900">
              <a:latin typeface="Courier New"/>
              <a:cs typeface="Courier New"/>
            </a:endParaRPr>
          </a:p>
          <a:p>
            <a:pPr marL="836294" indent="-626110">
              <a:lnSpc>
                <a:spcPts val="1055"/>
              </a:lnSpc>
              <a:buClr>
                <a:srgbClr val="0073FF"/>
              </a:buClr>
              <a:buFont typeface="Courier New"/>
              <a:buAutoNum type="arabicPlain" startAt="5"/>
              <a:tabLst>
                <a:tab pos="836930" algn="l"/>
              </a:tabLst>
            </a:pPr>
            <a:r>
              <a:rPr sz="900" spc="5" dirty="0">
                <a:latin typeface="Courier New"/>
                <a:cs typeface="Courier New"/>
              </a:rPr>
              <a:t>System.out.println(</a:t>
            </a:r>
            <a:r>
              <a:rPr sz="900" spc="5" dirty="0">
                <a:solidFill>
                  <a:srgbClr val="1F9060"/>
                </a:solidFill>
                <a:latin typeface="Courier New"/>
                <a:cs typeface="Courier New"/>
              </a:rPr>
              <a:t>"Expected:</a:t>
            </a:r>
            <a:r>
              <a:rPr sz="900" spc="-5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900" spc="5" dirty="0">
                <a:solidFill>
                  <a:srgbClr val="1F9060"/>
                </a:solidFill>
                <a:latin typeface="Courier New"/>
                <a:cs typeface="Courier New"/>
              </a:rPr>
              <a:t>Diana"</a:t>
            </a:r>
            <a:r>
              <a:rPr sz="900" spc="5" dirty="0"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836294" indent="-626110">
              <a:lnSpc>
                <a:spcPts val="1065"/>
              </a:lnSpc>
              <a:buClr>
                <a:srgbClr val="0073FF"/>
              </a:buClr>
              <a:buFont typeface="Courier New"/>
              <a:buAutoNum type="arabicPlain" startAt="5"/>
              <a:tabLst>
                <a:tab pos="836930" algn="l"/>
              </a:tabLst>
            </a:pPr>
            <a:r>
              <a:rPr sz="900" spc="5" dirty="0">
                <a:latin typeface="Courier New"/>
                <a:cs typeface="Courier New"/>
              </a:rPr>
              <a:t>System.out.println(result.getSecond());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06921" y="852864"/>
            <a:ext cx="142689" cy="13377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98005" y="852864"/>
            <a:ext cx="151608" cy="3745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1797" y="2184326"/>
            <a:ext cx="113538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5" dirty="0">
                <a:latin typeface="Arial"/>
                <a:cs typeface="Arial"/>
              </a:rPr>
              <a:t>Program</a:t>
            </a:r>
            <a:r>
              <a:rPr sz="1300" b="1" spc="-90" dirty="0">
                <a:latin typeface="Arial"/>
                <a:cs typeface="Arial"/>
              </a:rPr>
              <a:t> </a:t>
            </a:r>
            <a:r>
              <a:rPr sz="1300" b="1" spc="5" dirty="0">
                <a:latin typeface="Arial"/>
                <a:cs typeface="Arial"/>
              </a:rPr>
              <a:t>Run: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165" y="2496571"/>
            <a:ext cx="5234940" cy="622606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Diana</a:t>
            </a:r>
            <a:endParaRPr sz="950" dirty="0">
              <a:latin typeface="Courier" charset="0"/>
              <a:cs typeface="Courier" charset="0"/>
            </a:endParaRPr>
          </a:p>
          <a:p>
            <a:pPr marL="55880" marR="4078604">
              <a:lnSpc>
                <a:spcPts val="1120"/>
              </a:lnSpc>
              <a:spcBef>
                <a:spcPts val="45"/>
              </a:spcBef>
            </a:pPr>
            <a:r>
              <a:rPr sz="950" spc="-5" dirty="0">
                <a:latin typeface="Courier" charset="0"/>
                <a:cs typeface="Courier" charset="0"/>
              </a:rPr>
              <a:t>Expected: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Diana  1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090"/>
              </a:lnSpc>
            </a:pPr>
            <a:r>
              <a:rPr sz="950" spc="-5" dirty="0">
                <a:latin typeface="Courier" charset="0"/>
                <a:cs typeface="Courier" charset="0"/>
              </a:rPr>
              <a:t>Expected:</a:t>
            </a:r>
            <a:r>
              <a:rPr sz="950" spc="-9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1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7699"/>
            <a:ext cx="5300980" cy="106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How would you use </a:t>
            </a:r>
            <a:r>
              <a:rPr sz="1300" dirty="0">
                <a:latin typeface="Arial"/>
                <a:cs typeface="Arial"/>
              </a:rPr>
              <a:t>the generic </a:t>
            </a:r>
            <a:r>
              <a:rPr sz="1300" spc="5" dirty="0">
                <a:latin typeface="Courier" charset="0"/>
                <a:cs typeface="Courier" charset="0"/>
              </a:rPr>
              <a:t>Pair</a:t>
            </a:r>
            <a:r>
              <a:rPr sz="1300" spc="-35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class to construct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pair of strings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00" spc="5" dirty="0">
                <a:latin typeface="Courier" charset="0"/>
                <a:cs typeface="Courier" charset="0"/>
              </a:rPr>
              <a:t>"Hello"</a:t>
            </a:r>
            <a:r>
              <a:rPr sz="1300" spc="-509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and </a:t>
            </a:r>
            <a:r>
              <a:rPr sz="1300" spc="5" dirty="0">
                <a:latin typeface="Courier" charset="0"/>
                <a:cs typeface="Courier" charset="0"/>
              </a:rPr>
              <a:t>"World"</a:t>
            </a:r>
            <a:r>
              <a:rPr sz="1300" spc="5" dirty="0">
                <a:latin typeface="Arial"/>
                <a:cs typeface="Arial"/>
              </a:rPr>
              <a:t>?</a:t>
            </a:r>
            <a:endParaRPr sz="1300" dirty="0">
              <a:latin typeface="Arial"/>
              <a:cs typeface="Arial"/>
            </a:endParaRPr>
          </a:p>
          <a:p>
            <a:pPr marL="311785" marR="165100">
              <a:lnSpc>
                <a:spcPct val="1208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Courier" charset="0"/>
                <a:cs typeface="Courier" charset="0"/>
              </a:rPr>
              <a:t>new Pair&lt;String, String&gt;("Hello",  "World")</a:t>
            </a:r>
            <a:endParaRPr sz="15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7554"/>
            <a:ext cx="5384800" cy="1061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How would you use </a:t>
            </a:r>
            <a:r>
              <a:rPr sz="1300" dirty="0">
                <a:latin typeface="Arial"/>
                <a:cs typeface="Arial"/>
              </a:rPr>
              <a:t>the generic </a:t>
            </a:r>
            <a:r>
              <a:rPr sz="1300" spc="5" dirty="0">
                <a:latin typeface="Courier" charset="0"/>
                <a:cs typeface="Courier" charset="0"/>
              </a:rPr>
              <a:t>Pair</a:t>
            </a:r>
            <a:r>
              <a:rPr sz="1300" spc="-34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class to construct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pair containing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00" spc="5" dirty="0">
                <a:latin typeface="Courier" charset="0"/>
                <a:cs typeface="Courier" charset="0"/>
              </a:rPr>
              <a:t>"Hello"</a:t>
            </a:r>
            <a:r>
              <a:rPr sz="1300" spc="-51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and </a:t>
            </a:r>
            <a:r>
              <a:rPr sz="1300" spc="5" dirty="0">
                <a:latin typeface="Courier" charset="0"/>
                <a:cs typeface="Courier" charset="0"/>
              </a:rPr>
              <a:t>1729</a:t>
            </a:r>
            <a:r>
              <a:rPr sz="1300" spc="5" dirty="0">
                <a:latin typeface="Arial"/>
                <a:cs typeface="Arial"/>
              </a:rPr>
              <a:t>?</a:t>
            </a:r>
            <a:endParaRPr sz="1300" dirty="0">
              <a:latin typeface="Arial"/>
              <a:cs typeface="Arial"/>
            </a:endParaRPr>
          </a:p>
          <a:p>
            <a:pPr marL="311785" marR="128270">
              <a:lnSpc>
                <a:spcPct val="1208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Courier" charset="0"/>
                <a:cs typeface="Courier" charset="0"/>
              </a:rPr>
              <a:t>new Pair&lt;String, Integer&gt;(“Hello”,  1729)</a:t>
            </a:r>
            <a:endParaRPr sz="15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7537"/>
            <a:ext cx="5796280" cy="1927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What </a:t>
            </a:r>
            <a:r>
              <a:rPr sz="1300" dirty="0">
                <a:latin typeface="Arial"/>
                <a:cs typeface="Arial"/>
              </a:rPr>
              <a:t>is the difference </a:t>
            </a:r>
            <a:r>
              <a:rPr sz="1300" spc="5" dirty="0">
                <a:latin typeface="Arial"/>
                <a:cs typeface="Arial"/>
              </a:rPr>
              <a:t>between an </a:t>
            </a:r>
            <a:r>
              <a:rPr sz="1300" spc="5" dirty="0">
                <a:latin typeface="Courier" charset="0"/>
                <a:cs typeface="Courier" charset="0"/>
              </a:rPr>
              <a:t>ArrayList&lt;Pair&lt;String,</a:t>
            </a:r>
            <a:r>
              <a:rPr sz="1300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Integer&gt;&gt;</a:t>
            </a:r>
            <a:endParaRPr sz="13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00" spc="5" dirty="0">
                <a:latin typeface="Arial"/>
                <a:cs typeface="Arial"/>
              </a:rPr>
              <a:t>and a </a:t>
            </a:r>
            <a:r>
              <a:rPr sz="1300" spc="5" dirty="0">
                <a:latin typeface="Courier" charset="0"/>
                <a:cs typeface="Courier" charset="0"/>
              </a:rPr>
              <a:t>Pair&lt;ArrayList&lt;String&gt;,</a:t>
            </a:r>
            <a:r>
              <a:rPr sz="1300" spc="-70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Integer&gt;</a:t>
            </a:r>
            <a:r>
              <a:rPr sz="1300" spc="5" dirty="0">
                <a:latin typeface="Arial"/>
                <a:cs typeface="Arial"/>
              </a:rPr>
              <a:t>?</a:t>
            </a:r>
            <a:endParaRPr sz="1300" dirty="0">
              <a:latin typeface="Arial"/>
              <a:cs typeface="Arial"/>
            </a:endParaRPr>
          </a:p>
          <a:p>
            <a:pPr marL="311785" marR="123189">
              <a:lnSpc>
                <a:spcPct val="1208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An </a:t>
            </a:r>
            <a:r>
              <a:rPr sz="1550" spc="10" dirty="0">
                <a:latin typeface="Courier" charset="0"/>
                <a:cs typeface="Courier" charset="0"/>
              </a:rPr>
              <a:t>ArrayList&lt;Pair&lt;String, Integer&gt;&gt;  </a:t>
            </a:r>
            <a:r>
              <a:rPr sz="1550" spc="10" dirty="0">
                <a:latin typeface="Arial"/>
                <a:cs typeface="Arial"/>
              </a:rPr>
              <a:t>contains </a:t>
            </a:r>
            <a:r>
              <a:rPr sz="1550" spc="5" dirty="0">
                <a:latin typeface="Arial"/>
                <a:cs typeface="Arial"/>
              </a:rPr>
              <a:t>multiple pairs, for </a:t>
            </a:r>
            <a:r>
              <a:rPr sz="1550" spc="10" dirty="0">
                <a:latin typeface="Arial"/>
                <a:cs typeface="Arial"/>
              </a:rPr>
              <a:t>example </a:t>
            </a:r>
            <a:r>
              <a:rPr sz="1550" spc="10" dirty="0">
                <a:latin typeface="Courier" charset="0"/>
                <a:cs typeface="Courier" charset="0"/>
              </a:rPr>
              <a:t>[(Tom, 1), (Harry,  3)]</a:t>
            </a:r>
            <a:r>
              <a:rPr sz="1550" spc="10" dirty="0">
                <a:latin typeface="Arial"/>
                <a:cs typeface="Arial"/>
              </a:rPr>
              <a:t>. </a:t>
            </a:r>
            <a:r>
              <a:rPr sz="1550" spc="15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Pair&lt;ArrayList&lt;String&gt;, Integer&gt;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contains  a </a:t>
            </a:r>
            <a:r>
              <a:rPr sz="1550" spc="5" dirty="0">
                <a:latin typeface="Arial"/>
                <a:cs typeface="Arial"/>
              </a:rPr>
              <a:t>list of strings </a:t>
            </a:r>
            <a:r>
              <a:rPr sz="1550" spc="10" dirty="0">
                <a:latin typeface="Arial"/>
                <a:cs typeface="Arial"/>
              </a:rPr>
              <a:t>and a single </a:t>
            </a:r>
            <a:r>
              <a:rPr sz="1550" spc="5" dirty="0">
                <a:latin typeface="Arial"/>
                <a:cs typeface="Arial"/>
              </a:rPr>
              <a:t>integer, </a:t>
            </a:r>
            <a:r>
              <a:rPr sz="1550" spc="10" dirty="0">
                <a:latin typeface="Arial"/>
                <a:cs typeface="Arial"/>
              </a:rPr>
              <a:t>such as </a:t>
            </a:r>
            <a:r>
              <a:rPr sz="1550" spc="10" dirty="0">
                <a:latin typeface="Courier" charset="0"/>
                <a:cs typeface="Courier" charset="0"/>
              </a:rPr>
              <a:t>([Tom,  Harry],</a:t>
            </a:r>
            <a:r>
              <a:rPr sz="1550" spc="-5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Courier" charset="0"/>
                <a:cs typeface="Courier" charset="0"/>
              </a:rPr>
              <a:t>1)</a:t>
            </a:r>
            <a:r>
              <a:rPr sz="1550" spc="5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0" dirty="0"/>
              <a:t> </a:t>
            </a:r>
            <a:r>
              <a:rPr spc="15" dirty="0"/>
              <a:t>18.9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0458"/>
            <a:ext cx="5945505" cy="783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</a:pPr>
            <a:r>
              <a:rPr sz="1300" dirty="0">
                <a:latin typeface="Arial"/>
                <a:cs typeface="Arial"/>
              </a:rPr>
              <a:t>Write </a:t>
            </a:r>
            <a:r>
              <a:rPr sz="1300" spc="5" dirty="0">
                <a:latin typeface="Arial"/>
                <a:cs typeface="Arial"/>
              </a:rPr>
              <a:t>a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method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roots</a:t>
            </a:r>
            <a:r>
              <a:rPr sz="1300" spc="-42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with </a:t>
            </a:r>
            <a:r>
              <a:rPr sz="1300" spc="5" dirty="0">
                <a:latin typeface="Arial"/>
                <a:cs typeface="Arial"/>
              </a:rPr>
              <a:t>a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Double</a:t>
            </a:r>
            <a:r>
              <a:rPr sz="1300" spc="-41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parameter</a:t>
            </a:r>
            <a:r>
              <a:rPr sz="1300" dirty="0">
                <a:latin typeface="Arial"/>
                <a:cs typeface="Arial"/>
              </a:rPr>
              <a:t> variable </a:t>
            </a:r>
            <a:r>
              <a:rPr sz="1300" spc="5" dirty="0">
                <a:latin typeface="Courier" charset="0"/>
                <a:cs typeface="Courier" charset="0"/>
              </a:rPr>
              <a:t>x</a:t>
            </a:r>
            <a:r>
              <a:rPr sz="1300" spc="-41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that returns </a:t>
            </a:r>
            <a:r>
              <a:rPr sz="1300" spc="5" dirty="0">
                <a:latin typeface="Arial"/>
                <a:cs typeface="Arial"/>
              </a:rPr>
              <a:t>both</a:t>
            </a:r>
            <a:r>
              <a:rPr sz="1300" dirty="0">
                <a:latin typeface="Arial"/>
                <a:cs typeface="Arial"/>
              </a:rPr>
              <a:t> the  positive </a:t>
            </a:r>
            <a:r>
              <a:rPr sz="1300" spc="5" dirty="0">
                <a:latin typeface="Arial"/>
                <a:cs typeface="Arial"/>
              </a:rPr>
              <a:t>and</a:t>
            </a:r>
            <a:r>
              <a:rPr sz="1300" dirty="0">
                <a:latin typeface="Arial"/>
                <a:cs typeface="Arial"/>
              </a:rPr>
              <a:t> negative </a:t>
            </a:r>
            <a:r>
              <a:rPr sz="1300" spc="5" dirty="0">
                <a:latin typeface="Arial"/>
                <a:cs typeface="Arial"/>
              </a:rPr>
              <a:t>square</a:t>
            </a:r>
            <a:r>
              <a:rPr sz="1300" dirty="0">
                <a:latin typeface="Arial"/>
                <a:cs typeface="Arial"/>
              </a:rPr>
              <a:t> root of </a:t>
            </a:r>
            <a:r>
              <a:rPr sz="1300" spc="5" dirty="0">
                <a:latin typeface="Courier" charset="0"/>
                <a:cs typeface="Courier" charset="0"/>
              </a:rPr>
              <a:t>x</a:t>
            </a:r>
            <a:r>
              <a:rPr sz="1300" spc="-41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if </a:t>
            </a:r>
            <a:r>
              <a:rPr sz="1300" spc="5" dirty="0">
                <a:latin typeface="Courier" charset="0"/>
                <a:cs typeface="Courier" charset="0"/>
              </a:rPr>
              <a:t>x</a:t>
            </a:r>
            <a:r>
              <a:rPr sz="1300" spc="1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≥</a:t>
            </a:r>
            <a:r>
              <a:rPr sz="1300" spc="1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0</a:t>
            </a:r>
            <a:r>
              <a:rPr sz="1300" spc="-42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or </a:t>
            </a:r>
            <a:r>
              <a:rPr sz="1300" spc="5" dirty="0">
                <a:latin typeface="Courier" charset="0"/>
                <a:cs typeface="Courier" charset="0"/>
              </a:rPr>
              <a:t>null</a:t>
            </a:r>
            <a:r>
              <a:rPr sz="1300" spc="-41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otherwise.</a:t>
            </a: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684713"/>
            <a:ext cx="5234940" cy="1327928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Pair&lt;Double, Double&gt; roots(Double</a:t>
            </a:r>
            <a:r>
              <a:rPr sz="950" spc="-5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x)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if (x &gt;=</a:t>
            </a:r>
            <a:r>
              <a:rPr sz="950" spc="-9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0)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double r =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Math.sqrt(x);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return new Pair&lt;Double, Double&gt;(r,</a:t>
            </a:r>
            <a:r>
              <a:rPr sz="950" spc="-6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-r);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else { return null;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45502"/>
            <a:ext cx="5899150" cy="161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How would you implement a </a:t>
            </a:r>
            <a:r>
              <a:rPr sz="1300" dirty="0">
                <a:latin typeface="Arial"/>
                <a:cs typeface="Arial"/>
              </a:rPr>
              <a:t>class </a:t>
            </a:r>
            <a:r>
              <a:rPr sz="1300" spc="5" dirty="0">
                <a:latin typeface="Courier" charset="0"/>
                <a:cs typeface="Courier" charset="0"/>
              </a:rPr>
              <a:t>Triple</a:t>
            </a:r>
            <a:r>
              <a:rPr sz="1300" spc="-390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that collects three </a:t>
            </a:r>
            <a:r>
              <a:rPr sz="1300" spc="5" dirty="0">
                <a:latin typeface="Arial"/>
                <a:cs typeface="Arial"/>
              </a:rPr>
              <a:t>values </a:t>
            </a:r>
            <a:r>
              <a:rPr sz="1300" dirty="0">
                <a:latin typeface="Arial"/>
                <a:cs typeface="Arial"/>
              </a:rPr>
              <a:t>of arbitrary  </a:t>
            </a:r>
            <a:r>
              <a:rPr sz="1300" spc="5" dirty="0">
                <a:latin typeface="Arial"/>
                <a:cs typeface="Arial"/>
              </a:rPr>
              <a:t>types?</a:t>
            </a:r>
            <a:endParaRPr sz="1300" dirty="0">
              <a:latin typeface="Arial"/>
              <a:cs typeface="Arial"/>
            </a:endParaRPr>
          </a:p>
          <a:p>
            <a:pPr marL="311785" marR="255270">
              <a:lnSpc>
                <a:spcPct val="119600"/>
              </a:lnSpc>
              <a:spcBef>
                <a:spcPts val="585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You have three type parameters: </a:t>
            </a:r>
            <a:r>
              <a:rPr sz="1550" spc="10" dirty="0">
                <a:latin typeface="Courier" charset="0"/>
                <a:cs typeface="Courier" charset="0"/>
              </a:rPr>
              <a:t>Triple&lt;T, S,  </a:t>
            </a:r>
            <a:r>
              <a:rPr sz="1550" spc="5" dirty="0">
                <a:latin typeface="Courier" charset="0"/>
                <a:cs typeface="Courier" charset="0"/>
              </a:rPr>
              <a:t>U&gt;</a:t>
            </a:r>
            <a:r>
              <a:rPr sz="1550" spc="5" dirty="0">
                <a:latin typeface="Arial"/>
                <a:cs typeface="Arial"/>
              </a:rPr>
              <a:t>. </a:t>
            </a:r>
            <a:r>
              <a:rPr sz="1550" spc="10" dirty="0">
                <a:latin typeface="Arial"/>
                <a:cs typeface="Arial"/>
              </a:rPr>
              <a:t>Add an instance variable </a:t>
            </a:r>
            <a:r>
              <a:rPr sz="1550" spc="10" dirty="0">
                <a:latin typeface="Courier" charset="0"/>
                <a:cs typeface="Courier" charset="0"/>
              </a:rPr>
              <a:t>U</a:t>
            </a:r>
            <a:r>
              <a:rPr sz="1550" spc="-55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third, </a:t>
            </a:r>
            <a:r>
              <a:rPr sz="1550" spc="10" dirty="0">
                <a:latin typeface="Arial"/>
                <a:cs typeface="Arial"/>
              </a:rPr>
              <a:t>a constructor argument  </a:t>
            </a:r>
            <a:r>
              <a:rPr sz="1550" spc="5" dirty="0">
                <a:latin typeface="Arial"/>
                <a:cs typeface="Arial"/>
              </a:rPr>
              <a:t>for initializing it, </a:t>
            </a:r>
            <a:r>
              <a:rPr sz="1550" spc="10" dirty="0">
                <a:latin typeface="Arial"/>
                <a:cs typeface="Arial"/>
              </a:rPr>
              <a:t>and a method </a:t>
            </a:r>
            <a:r>
              <a:rPr sz="1550" spc="10" dirty="0">
                <a:latin typeface="Courier" charset="0"/>
                <a:cs typeface="Courier" charset="0"/>
              </a:rPr>
              <a:t>U getThird()</a:t>
            </a:r>
            <a:r>
              <a:rPr sz="1550" spc="-484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returning  </a:t>
            </a:r>
            <a:r>
              <a:rPr sz="1550" spc="5" dirty="0">
                <a:latin typeface="Arial"/>
                <a:cs typeface="Arial"/>
              </a:rPr>
              <a:t>it.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682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Generic</a:t>
            </a:r>
            <a:r>
              <a:rPr spc="-10" dirty="0"/>
              <a:t> </a:t>
            </a:r>
            <a:r>
              <a:rPr spc="155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786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278911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9348" y="160887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384" y="765393"/>
            <a:ext cx="5088890" cy="126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27075">
              <a:lnSpc>
                <a:spcPct val="135900"/>
              </a:lnSpc>
            </a:pPr>
            <a:r>
              <a:rPr sz="1550" b="1" spc="10" dirty="0">
                <a:latin typeface="Arial"/>
                <a:cs typeface="Arial"/>
              </a:rPr>
              <a:t>Generic method: </a:t>
            </a:r>
            <a:r>
              <a:rPr sz="1550" spc="10" dirty="0">
                <a:latin typeface="Arial"/>
                <a:cs typeface="Arial"/>
              </a:rPr>
              <a:t>method with a type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parameter.  Can be declared inside non-generic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class.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420"/>
              </a:spcBef>
            </a:pPr>
            <a:r>
              <a:rPr sz="1550" spc="10" dirty="0">
                <a:latin typeface="Arial"/>
                <a:cs typeface="Arial"/>
              </a:rPr>
              <a:t>Example: Declare a method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can </a:t>
            </a:r>
            <a:r>
              <a:rPr sz="1550" spc="5" dirty="0">
                <a:latin typeface="Arial"/>
                <a:cs typeface="Arial"/>
              </a:rPr>
              <a:t>print </a:t>
            </a:r>
            <a:r>
              <a:rPr sz="1550" spc="10" dirty="0">
                <a:latin typeface="Arial"/>
                <a:cs typeface="Arial"/>
              </a:rPr>
              <a:t>an array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2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any  type: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165" y="2103821"/>
            <a:ext cx="5234940" cy="175112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ArrayUtil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/**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Prints all elements in an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array.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@param a the array to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print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*/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 &lt;T&gt; static void print(T[]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31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Generic</a:t>
            </a:r>
            <a:r>
              <a:rPr spc="-10" dirty="0"/>
              <a:t> </a:t>
            </a:r>
            <a:r>
              <a:rPr spc="155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835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55585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1384" y="810529"/>
            <a:ext cx="5200015" cy="893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Often easier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see how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implement a generic method</a:t>
            </a:r>
            <a:r>
              <a:rPr sz="1550" spc="-4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by  </a:t>
            </a:r>
            <a:r>
              <a:rPr sz="1550" spc="5" dirty="0">
                <a:latin typeface="Arial"/>
                <a:cs typeface="Arial"/>
              </a:rPr>
              <a:t>starting </a:t>
            </a:r>
            <a:r>
              <a:rPr sz="1550" spc="10" dirty="0">
                <a:latin typeface="Arial"/>
                <a:cs typeface="Arial"/>
              </a:rPr>
              <a:t>with a concrete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example.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spc="10" dirty="0">
                <a:latin typeface="Arial"/>
                <a:cs typeface="Arial"/>
              </a:rPr>
              <a:t>Example: </a:t>
            </a:r>
            <a:r>
              <a:rPr sz="1550" spc="5" dirty="0">
                <a:latin typeface="Arial"/>
                <a:cs typeface="Arial"/>
              </a:rPr>
              <a:t>print </a:t>
            </a:r>
            <a:r>
              <a:rPr sz="1550" spc="10" dirty="0">
                <a:latin typeface="Arial"/>
                <a:cs typeface="Arial"/>
              </a:rPr>
              <a:t>the elements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an array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2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strings</a:t>
            </a:r>
            <a:r>
              <a:rPr sz="1550" spc="5" dirty="0"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2165" y="1783265"/>
            <a:ext cx="5234940" cy="175112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ArrayUtil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 static void print(String[]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for (String e :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70612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System.out.print(e + "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");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System.out.println();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653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Generic</a:t>
            </a:r>
            <a:r>
              <a:rPr spc="-10" dirty="0"/>
              <a:t> </a:t>
            </a:r>
            <a:r>
              <a:rPr spc="155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757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49907"/>
            <a:ext cx="5071110" cy="1217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order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make the method </a:t>
            </a:r>
            <a:r>
              <a:rPr sz="1550" spc="5" dirty="0">
                <a:latin typeface="Arial"/>
                <a:cs typeface="Arial"/>
              </a:rPr>
              <a:t>into </a:t>
            </a:r>
            <a:r>
              <a:rPr sz="1550" spc="10" dirty="0">
                <a:latin typeface="Arial"/>
                <a:cs typeface="Arial"/>
              </a:rPr>
              <a:t>a generic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method:</a:t>
            </a:r>
            <a:endParaRPr sz="1550" dirty="0">
              <a:latin typeface="Arial"/>
              <a:cs typeface="Arial"/>
            </a:endParaRPr>
          </a:p>
          <a:p>
            <a:pPr marL="372110" marR="5080">
              <a:lnSpc>
                <a:spcPct val="112200"/>
              </a:lnSpc>
              <a:spcBef>
                <a:spcPts val="840"/>
              </a:spcBef>
            </a:pPr>
            <a:r>
              <a:rPr sz="1200" dirty="0">
                <a:latin typeface="Arial"/>
                <a:cs typeface="Arial"/>
              </a:rPr>
              <a:t>Replace </a:t>
            </a:r>
            <a:r>
              <a:rPr sz="1200" dirty="0">
                <a:latin typeface="Courier" charset="0"/>
                <a:cs typeface="Courier" charset="0"/>
              </a:rPr>
              <a:t>String</a:t>
            </a:r>
            <a:r>
              <a:rPr sz="1200" spc="-409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with a type parameter, say </a:t>
            </a:r>
            <a:r>
              <a:rPr sz="1200" spc="-5" dirty="0">
                <a:latin typeface="Courier" charset="0"/>
                <a:cs typeface="Courier" charset="0"/>
              </a:rPr>
              <a:t>E</a:t>
            </a:r>
            <a:r>
              <a:rPr sz="1200" spc="-5" dirty="0">
                <a:latin typeface="Arial"/>
                <a:cs typeface="Arial"/>
              </a:rPr>
              <a:t>, </a:t>
            </a:r>
            <a:r>
              <a:rPr sz="1200" dirty="0">
                <a:latin typeface="Arial"/>
                <a:cs typeface="Arial"/>
              </a:rPr>
              <a:t>to denote the element  type.</a:t>
            </a:r>
          </a:p>
          <a:p>
            <a:pPr marL="372110" marR="84455">
              <a:lnSpc>
                <a:spcPct val="112200"/>
              </a:lnSpc>
              <a:spcBef>
                <a:spcPts val="280"/>
              </a:spcBef>
            </a:pPr>
            <a:r>
              <a:rPr sz="1200" dirty="0">
                <a:latin typeface="Arial"/>
                <a:cs typeface="Arial"/>
              </a:rPr>
              <a:t>Add the type parameters between the method's modifiers and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return  type.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8099" y="2165957"/>
            <a:ext cx="5119370" cy="118686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969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&lt;E&gt; void print(E[]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5969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622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for </a:t>
            </a:r>
            <a:r>
              <a:rPr sz="950" spc="-10" dirty="0">
                <a:latin typeface="Courier" charset="0"/>
                <a:cs typeface="Courier" charset="0"/>
              </a:rPr>
              <a:t>(E </a:t>
            </a:r>
            <a:r>
              <a:rPr sz="950" spc="-5" dirty="0">
                <a:latin typeface="Courier" charset="0"/>
                <a:cs typeface="Courier" charset="0"/>
              </a:rPr>
              <a:t>e :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27622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9339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System.out.print(e + "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");</a:t>
            </a:r>
            <a:endParaRPr sz="950" dirty="0">
              <a:latin typeface="Courier" charset="0"/>
              <a:cs typeface="Courier" charset="0"/>
            </a:endParaRPr>
          </a:p>
          <a:p>
            <a:pPr marL="27622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622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System.out.println();</a:t>
            </a:r>
            <a:endParaRPr sz="950" dirty="0">
              <a:latin typeface="Courier" charset="0"/>
              <a:cs typeface="Courier" charset="0"/>
            </a:endParaRPr>
          </a:p>
          <a:p>
            <a:pPr marL="5969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702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Generic</a:t>
            </a:r>
            <a:r>
              <a:rPr spc="-10" dirty="0"/>
              <a:t> </a:t>
            </a:r>
            <a:r>
              <a:rPr spc="155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806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10239"/>
            <a:ext cx="533400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5" dirty="0">
                <a:latin typeface="Arial"/>
                <a:cs typeface="Arial"/>
              </a:rPr>
              <a:t>When </a:t>
            </a:r>
            <a:r>
              <a:rPr sz="1550" spc="5" dirty="0">
                <a:latin typeface="Arial"/>
                <a:cs typeface="Arial"/>
              </a:rPr>
              <a:t>calling </a:t>
            </a:r>
            <a:r>
              <a:rPr sz="1550" spc="10" dirty="0">
                <a:latin typeface="Arial"/>
                <a:cs typeface="Arial"/>
              </a:rPr>
              <a:t>a generic method, you need not </a:t>
            </a:r>
            <a:r>
              <a:rPr sz="1550" spc="5" dirty="0">
                <a:latin typeface="Arial"/>
                <a:cs typeface="Arial"/>
              </a:rPr>
              <a:t>instantiate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  type</a:t>
            </a:r>
            <a:r>
              <a:rPr sz="1550" spc="-4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variables: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3012"/>
            <a:ext cx="5234940" cy="34689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5880" marR="2922905">
              <a:lnSpc>
                <a:spcPts val="1120"/>
              </a:lnSpc>
              <a:spcBef>
                <a:spcPts val="505"/>
              </a:spcBef>
            </a:pPr>
            <a:r>
              <a:rPr sz="950" spc="-5" dirty="0">
                <a:latin typeface="Courier" charset="0"/>
                <a:cs typeface="Courier" charset="0"/>
              </a:rPr>
              <a:t>Rectangle[] rectangles = . . .;  ArrayUtil.print(rectangles);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205497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9348" y="238493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9348" y="271490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9348" y="303594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1384" y="1947303"/>
            <a:ext cx="4966970" cy="176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The compiler deduces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Courier" charset="0"/>
                <a:cs typeface="Courier" charset="0"/>
              </a:rPr>
              <a:t>E</a:t>
            </a:r>
            <a:r>
              <a:rPr sz="1550" spc="-53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Courier" charset="0"/>
                <a:cs typeface="Courier" charset="0"/>
              </a:rPr>
              <a:t>Rectangle</a:t>
            </a:r>
            <a:r>
              <a:rPr sz="1550" spc="10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  <a:p>
            <a:pPr marL="12700" marR="5080" algn="just">
              <a:lnSpc>
                <a:spcPct val="137800"/>
              </a:lnSpc>
              <a:spcBef>
                <a:spcPts val="35"/>
              </a:spcBef>
            </a:pPr>
            <a:r>
              <a:rPr sz="1550" spc="10" dirty="0">
                <a:latin typeface="Arial"/>
                <a:cs typeface="Arial"/>
              </a:rPr>
              <a:t>You can also define generic methods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are not </a:t>
            </a:r>
            <a:r>
              <a:rPr sz="1550" spc="5" dirty="0">
                <a:latin typeface="Arial"/>
                <a:cs typeface="Arial"/>
              </a:rPr>
              <a:t>static.  </a:t>
            </a:r>
            <a:r>
              <a:rPr sz="1550" spc="10" dirty="0">
                <a:latin typeface="Arial"/>
                <a:cs typeface="Arial"/>
              </a:rPr>
              <a:t>You can even have generic methods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generic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classes.  Cannot replace type variables with </a:t>
            </a:r>
            <a:r>
              <a:rPr sz="1550" spc="5" dirty="0">
                <a:latin typeface="Arial"/>
                <a:cs typeface="Arial"/>
              </a:rPr>
              <a:t>primitive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types.</a:t>
            </a:r>
            <a:endParaRPr sz="1550" dirty="0">
              <a:latin typeface="Arial"/>
              <a:cs typeface="Arial"/>
            </a:endParaRPr>
          </a:p>
          <a:p>
            <a:pPr marL="372110" marR="25400">
              <a:lnSpc>
                <a:spcPct val="117000"/>
              </a:lnSpc>
              <a:spcBef>
                <a:spcPts val="770"/>
              </a:spcBef>
            </a:pPr>
            <a:r>
              <a:rPr sz="1200" dirty="0">
                <a:latin typeface="Arial"/>
                <a:cs typeface="Arial"/>
              </a:rPr>
              <a:t>Example: cannot use the generic </a:t>
            </a:r>
            <a:r>
              <a:rPr sz="1200" dirty="0">
                <a:latin typeface="Courier" charset="0"/>
                <a:cs typeface="Courier" charset="0"/>
              </a:rPr>
              <a:t>print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method to print an array of  type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int[]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948368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5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24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797" y="279290"/>
            <a:ext cx="4347845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60"/>
              </a:lnSpc>
            </a:pPr>
            <a:r>
              <a:rPr spc="95" dirty="0">
                <a:solidFill>
                  <a:srgbClr val="125859"/>
                </a:solidFill>
              </a:rPr>
              <a:t>Syntax </a:t>
            </a:r>
            <a:r>
              <a:rPr spc="15" dirty="0">
                <a:solidFill>
                  <a:srgbClr val="125859"/>
                </a:solidFill>
              </a:rPr>
              <a:t>18.2 </a:t>
            </a:r>
            <a:r>
              <a:rPr spc="125" dirty="0"/>
              <a:t>Declaring </a:t>
            </a:r>
            <a:r>
              <a:rPr spc="110" dirty="0"/>
              <a:t>a</a:t>
            </a:r>
            <a:r>
              <a:rPr spc="-140" dirty="0"/>
              <a:t> </a:t>
            </a:r>
            <a:r>
              <a:rPr spc="65" dirty="0"/>
              <a:t>Generic  </a:t>
            </a:r>
            <a:r>
              <a:rPr spc="135" dirty="0"/>
              <a:t>Method</a:t>
            </a:r>
          </a:p>
        </p:txBody>
      </p:sp>
      <p:sp>
        <p:nvSpPr>
          <p:cNvPr id="4" name="object 4"/>
          <p:cNvSpPr/>
          <p:nvPr/>
        </p:nvSpPr>
        <p:spPr>
          <a:xfrm>
            <a:off x="843946" y="1182839"/>
            <a:ext cx="6242646" cy="2425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7267"/>
            <a:ext cx="575310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Exactly </a:t>
            </a:r>
            <a:r>
              <a:rPr sz="1300" spc="5" dirty="0">
                <a:latin typeface="Arial"/>
                <a:cs typeface="Arial"/>
              </a:rPr>
              <a:t>what does </a:t>
            </a:r>
            <a:r>
              <a:rPr sz="1300" dirty="0">
                <a:latin typeface="Arial"/>
                <a:cs typeface="Arial"/>
              </a:rPr>
              <a:t>the generic </a:t>
            </a:r>
            <a:r>
              <a:rPr sz="1300" spc="5" dirty="0">
                <a:latin typeface="Courier" charset="0"/>
                <a:cs typeface="Courier" charset="0"/>
              </a:rPr>
              <a:t>print</a:t>
            </a:r>
            <a:r>
              <a:rPr sz="1300" spc="-40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print </a:t>
            </a:r>
            <a:r>
              <a:rPr sz="1300" spc="5" dirty="0">
                <a:latin typeface="Arial"/>
                <a:cs typeface="Arial"/>
              </a:rPr>
              <a:t>when you pass an </a:t>
            </a:r>
            <a:r>
              <a:rPr sz="1300" dirty="0">
                <a:latin typeface="Arial"/>
                <a:cs typeface="Arial"/>
              </a:rPr>
              <a:t>array of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300" spc="5" dirty="0">
                <a:latin typeface="Courier" charset="0"/>
                <a:cs typeface="Courier" charset="0"/>
              </a:rPr>
              <a:t>BankAccount</a:t>
            </a:r>
            <a:r>
              <a:rPr sz="1300" spc="-42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objects containing </a:t>
            </a:r>
            <a:r>
              <a:rPr sz="1300" spc="5" dirty="0">
                <a:latin typeface="Arial"/>
                <a:cs typeface="Arial"/>
              </a:rPr>
              <a:t>two bank accounts </a:t>
            </a:r>
            <a:r>
              <a:rPr sz="1300" dirty="0">
                <a:latin typeface="Arial"/>
                <a:cs typeface="Arial"/>
              </a:rPr>
              <a:t>with </a:t>
            </a:r>
            <a:r>
              <a:rPr sz="1300" spc="5" dirty="0">
                <a:latin typeface="Arial"/>
                <a:cs typeface="Arial"/>
              </a:rPr>
              <a:t>zero balances?</a:t>
            </a:r>
            <a:endParaRPr sz="130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The output depends on the </a:t>
            </a:r>
            <a:r>
              <a:rPr sz="1550" spc="5" dirty="0">
                <a:latin typeface="Arial"/>
                <a:cs typeface="Arial"/>
              </a:rPr>
              <a:t>definition of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</a:t>
            </a:r>
            <a:endParaRPr sz="155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385"/>
              </a:spcBef>
            </a:pPr>
            <a:r>
              <a:rPr sz="1550" spc="10" dirty="0">
                <a:latin typeface="Courier" charset="0"/>
                <a:cs typeface="Courier" charset="0"/>
              </a:rPr>
              <a:t>toString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method </a:t>
            </a:r>
            <a:r>
              <a:rPr sz="1550" spc="5" dirty="0">
                <a:latin typeface="Arial"/>
                <a:cs typeface="Arial"/>
              </a:rPr>
              <a:t>in</a:t>
            </a:r>
            <a:r>
              <a:rPr sz="1550" spc="10" dirty="0">
                <a:latin typeface="Arial"/>
                <a:cs typeface="Arial"/>
              </a:rPr>
              <a:t> the </a:t>
            </a:r>
            <a:r>
              <a:rPr sz="1550" spc="10" dirty="0">
                <a:latin typeface="Courier" charset="0"/>
                <a:cs typeface="Courier" charset="0"/>
              </a:rPr>
              <a:t>BankAccount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class.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6488"/>
            <a:ext cx="549910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dirty="0">
                <a:latin typeface="Arial"/>
                <a:cs typeface="Arial"/>
              </a:rPr>
              <a:t>Is the </a:t>
            </a:r>
            <a:r>
              <a:rPr sz="1300" spc="5" dirty="0">
                <a:latin typeface="Courier" charset="0"/>
                <a:cs typeface="Courier" charset="0"/>
              </a:rPr>
              <a:t>getFirst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</a:t>
            </a:r>
            <a:r>
              <a:rPr sz="1300" dirty="0">
                <a:latin typeface="Arial"/>
                <a:cs typeface="Arial"/>
              </a:rPr>
              <a:t> of the </a:t>
            </a:r>
            <a:r>
              <a:rPr sz="1300" spc="5" dirty="0">
                <a:latin typeface="Courier" charset="0"/>
                <a:cs typeface="Courier" charset="0"/>
              </a:rPr>
              <a:t>Pair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class </a:t>
            </a:r>
            <a:r>
              <a:rPr sz="1300" spc="5" dirty="0">
                <a:latin typeface="Arial"/>
                <a:cs typeface="Arial"/>
              </a:rPr>
              <a:t>a</a:t>
            </a:r>
            <a:r>
              <a:rPr sz="1300" dirty="0">
                <a:latin typeface="Arial"/>
                <a:cs typeface="Arial"/>
              </a:rPr>
              <a:t> generic </a:t>
            </a:r>
            <a:r>
              <a:rPr sz="1300" spc="5" dirty="0">
                <a:latin typeface="Arial"/>
                <a:cs typeface="Arial"/>
              </a:rPr>
              <a:t>method?</a:t>
            </a:r>
            <a:endParaRPr sz="1300" dirty="0">
              <a:latin typeface="Arial"/>
              <a:cs typeface="Arial"/>
            </a:endParaRPr>
          </a:p>
          <a:p>
            <a:pPr marL="311785" marR="5080">
              <a:lnSpc>
                <a:spcPct val="1170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No – the method has no type parameters. </a:t>
            </a:r>
            <a:r>
              <a:rPr sz="1550" spc="5" dirty="0">
                <a:latin typeface="Arial"/>
                <a:cs typeface="Arial"/>
              </a:rPr>
              <a:t>It is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an  ordinary method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 generic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class.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6978"/>
            <a:ext cx="2091689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Consider </a:t>
            </a:r>
            <a:r>
              <a:rPr sz="1300" dirty="0">
                <a:latin typeface="Arial"/>
                <a:cs typeface="Arial"/>
              </a:rPr>
              <a:t>this </a:t>
            </a:r>
            <a:r>
              <a:rPr sz="1300" spc="5" dirty="0">
                <a:latin typeface="Courier" charset="0"/>
                <a:cs typeface="Courier" charset="0"/>
              </a:rPr>
              <a:t>fill</a:t>
            </a:r>
            <a:r>
              <a:rPr sz="1300" spc="-50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095715"/>
            <a:ext cx="5761355" cy="51748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193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</a:pPr>
            <a:r>
              <a:rPr sz="550" dirty="0">
                <a:latin typeface="Courier" charset="0"/>
                <a:cs typeface="Courier" charset="0"/>
              </a:rPr>
              <a:t>public static &lt;T&gt; void fill(List&lt;T&gt; lst, T</a:t>
            </a:r>
            <a:r>
              <a:rPr sz="550" spc="-105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value)</a:t>
            </a:r>
          </a:p>
          <a:p>
            <a:pPr marL="51435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{</a:t>
            </a:r>
          </a:p>
          <a:p>
            <a:pPr marL="219710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for (int i = 0; i &lt; lst.size(); i++) { lst.set(i, value);</a:t>
            </a:r>
            <a:r>
              <a:rPr sz="550" spc="-105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}</a:t>
            </a:r>
          </a:p>
          <a:p>
            <a:pPr marL="51435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1797" y="1712920"/>
            <a:ext cx="4574540" cy="793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</a:pPr>
            <a:r>
              <a:rPr sz="1300" dirty="0">
                <a:latin typeface="Arial"/>
                <a:cs typeface="Arial"/>
              </a:rPr>
              <a:t>If </a:t>
            </a:r>
            <a:r>
              <a:rPr sz="1300" spc="5" dirty="0">
                <a:latin typeface="Arial"/>
                <a:cs typeface="Arial"/>
              </a:rPr>
              <a:t>you have an </a:t>
            </a:r>
            <a:r>
              <a:rPr sz="1300" dirty="0">
                <a:latin typeface="Arial"/>
                <a:cs typeface="Arial"/>
              </a:rPr>
              <a:t>array list </a:t>
            </a:r>
            <a:r>
              <a:rPr sz="1300" spc="5" dirty="0">
                <a:latin typeface="Courier" charset="0"/>
                <a:cs typeface="Courier" charset="0"/>
              </a:rPr>
              <a:t>ArrayList &lt;String&gt; a = new  ArrayList&lt;String&gt;(10); </a:t>
            </a:r>
            <a:r>
              <a:rPr sz="1300" spc="5" dirty="0">
                <a:latin typeface="Arial"/>
                <a:cs typeface="Arial"/>
              </a:rPr>
              <a:t>how do you </a:t>
            </a:r>
            <a:r>
              <a:rPr sz="1300" dirty="0">
                <a:latin typeface="Arial"/>
                <a:cs typeface="Arial"/>
              </a:rPr>
              <a:t>fill it with ten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Courier" charset="0"/>
                <a:cs typeface="Courier" charset="0"/>
              </a:rPr>
              <a:t>"*"</a:t>
            </a:r>
            <a:r>
              <a:rPr sz="1300" dirty="0">
                <a:latin typeface="Arial"/>
                <a:cs typeface="Arial"/>
              </a:rPr>
              <a:t>?</a:t>
            </a:r>
          </a:p>
          <a:p>
            <a:pPr marL="311785">
              <a:lnSpc>
                <a:spcPct val="100000"/>
              </a:lnSpc>
              <a:spcBef>
                <a:spcPts val="994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Courier" charset="0"/>
                <a:cs typeface="Courier" charset="0"/>
              </a:rPr>
              <a:t>fill(a,</a:t>
            </a:r>
            <a:r>
              <a:rPr sz="1550" spc="-3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"*");</a:t>
            </a:r>
            <a:endParaRPr sz="15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6198"/>
            <a:ext cx="564388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What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happens</a:t>
            </a:r>
            <a:r>
              <a:rPr sz="1300" dirty="0">
                <a:latin typeface="Arial"/>
                <a:cs typeface="Arial"/>
              </a:rPr>
              <a:t> if </a:t>
            </a:r>
            <a:r>
              <a:rPr sz="1300" spc="5" dirty="0">
                <a:latin typeface="Arial"/>
                <a:cs typeface="Arial"/>
              </a:rPr>
              <a:t>you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pass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42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instead of </a:t>
            </a:r>
            <a:r>
              <a:rPr sz="1300" spc="5" dirty="0">
                <a:latin typeface="Courier" charset="0"/>
                <a:cs typeface="Courier" charset="0"/>
              </a:rPr>
              <a:t>"*"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to the fill </a:t>
            </a:r>
            <a:r>
              <a:rPr sz="1300" spc="5" dirty="0">
                <a:latin typeface="Arial"/>
                <a:cs typeface="Arial"/>
              </a:rPr>
              <a:t>method?</a:t>
            </a:r>
            <a:endParaRPr sz="1300" dirty="0">
              <a:latin typeface="Arial"/>
              <a:cs typeface="Arial"/>
            </a:endParaRPr>
          </a:p>
          <a:p>
            <a:pPr marL="311785" marR="5080">
              <a:lnSpc>
                <a:spcPct val="1170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You get a compile-time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Arial"/>
                <a:cs typeface="Arial"/>
              </a:rPr>
              <a:t>An integer cannot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be  converted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string.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7770"/>
            <a:ext cx="184785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Consider </a:t>
            </a:r>
            <a:r>
              <a:rPr sz="1300" dirty="0">
                <a:latin typeface="Arial"/>
                <a:cs typeface="Arial"/>
              </a:rPr>
              <a:t>this fill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method: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086508"/>
            <a:ext cx="5761355" cy="51748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193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</a:pPr>
            <a:r>
              <a:rPr sz="550" dirty="0">
                <a:latin typeface="Courier" charset="0"/>
                <a:cs typeface="Courier" charset="0"/>
              </a:rPr>
              <a:t>public static &lt;T&gt; fill(T[] arr, T</a:t>
            </a:r>
            <a:r>
              <a:rPr sz="550" spc="-105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value)</a:t>
            </a:r>
          </a:p>
          <a:p>
            <a:pPr marL="51435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{</a:t>
            </a:r>
          </a:p>
          <a:p>
            <a:pPr marL="177800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for (int i = 0; i &lt; arr.length; i++) { arr[i] = value;</a:t>
            </a:r>
            <a:r>
              <a:rPr sz="550" spc="-105" dirty="0">
                <a:latin typeface="Courier" charset="0"/>
                <a:cs typeface="Courier" charset="0"/>
              </a:rPr>
              <a:t> </a:t>
            </a:r>
            <a:r>
              <a:rPr sz="550" dirty="0">
                <a:latin typeface="Courier" charset="0"/>
                <a:cs typeface="Courier" charset="0"/>
              </a:rPr>
              <a:t>}</a:t>
            </a:r>
          </a:p>
          <a:p>
            <a:pPr marL="51435">
              <a:lnSpc>
                <a:spcPct val="100000"/>
              </a:lnSpc>
              <a:spcBef>
                <a:spcPts val="250"/>
              </a:spcBef>
            </a:pPr>
            <a:r>
              <a:rPr sz="550" dirty="0">
                <a:latin typeface="Courier" charset="0"/>
                <a:cs typeface="Courier" charset="0"/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1797" y="1701728"/>
            <a:ext cx="441071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What happens when you execute </a:t>
            </a:r>
            <a:r>
              <a:rPr sz="1300" dirty="0">
                <a:latin typeface="Arial"/>
                <a:cs typeface="Arial"/>
              </a:rPr>
              <a:t>the following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statements?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053" y="1969384"/>
            <a:ext cx="5761355" cy="28828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51435" marR="4007485">
              <a:lnSpc>
                <a:spcPct val="101400"/>
              </a:lnSpc>
              <a:spcBef>
                <a:spcPts val="430"/>
              </a:spcBef>
            </a:pPr>
            <a:r>
              <a:rPr sz="750" spc="20" dirty="0">
                <a:latin typeface="Courier" charset="0"/>
                <a:cs typeface="Courier" charset="0"/>
              </a:rPr>
              <a:t>String[] a = new String[10];  fill(a,</a:t>
            </a:r>
            <a:r>
              <a:rPr sz="750" spc="-6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42);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1384" y="2371369"/>
            <a:ext cx="5215890" cy="2006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200"/>
              </a:lnSpc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You get a run-time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Arial"/>
                <a:cs typeface="Arial"/>
              </a:rPr>
              <a:t>Unfortunately, the </a:t>
            </a:r>
            <a:r>
              <a:rPr sz="1550" spc="5" dirty="0">
                <a:latin typeface="Arial"/>
                <a:cs typeface="Arial"/>
              </a:rPr>
              <a:t>call  </a:t>
            </a:r>
            <a:r>
              <a:rPr sz="1550" spc="10" dirty="0">
                <a:latin typeface="Arial"/>
                <a:cs typeface="Arial"/>
              </a:rPr>
              <a:t>compiles, with </a:t>
            </a:r>
            <a:r>
              <a:rPr sz="1550" spc="10" dirty="0">
                <a:latin typeface="Courier" charset="0"/>
                <a:cs typeface="Courier" charset="0"/>
              </a:rPr>
              <a:t>T = Object</a:t>
            </a:r>
            <a:r>
              <a:rPr sz="1550" spc="10" dirty="0">
                <a:latin typeface="Arial"/>
                <a:cs typeface="Arial"/>
              </a:rPr>
              <a:t>. This choice </a:t>
            </a:r>
            <a:r>
              <a:rPr sz="1550" spc="5" dirty="0">
                <a:latin typeface="Arial"/>
                <a:cs typeface="Arial"/>
              </a:rPr>
              <a:t>is justified  </a:t>
            </a:r>
            <a:r>
              <a:rPr sz="1550" spc="10" dirty="0">
                <a:latin typeface="Arial"/>
                <a:cs typeface="Arial"/>
              </a:rPr>
              <a:t>because a </a:t>
            </a:r>
            <a:r>
              <a:rPr sz="1550" spc="10" dirty="0">
                <a:latin typeface="Courier" charset="0"/>
                <a:cs typeface="Courier" charset="0"/>
              </a:rPr>
              <a:t>String[]</a:t>
            </a:r>
            <a:r>
              <a:rPr sz="1550" spc="-52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array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convertible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an </a:t>
            </a:r>
            <a:r>
              <a:rPr sz="1550" spc="10" dirty="0">
                <a:latin typeface="Courier" charset="0"/>
                <a:cs typeface="Courier" charset="0"/>
              </a:rPr>
              <a:t>Object[]  </a:t>
            </a:r>
            <a:r>
              <a:rPr sz="1550" spc="5" dirty="0">
                <a:latin typeface="Arial"/>
                <a:cs typeface="Arial"/>
              </a:rPr>
              <a:t>array, </a:t>
            </a:r>
            <a:r>
              <a:rPr sz="1550" spc="10" dirty="0">
                <a:latin typeface="Arial"/>
                <a:cs typeface="Arial"/>
              </a:rPr>
              <a:t>and 42 becomes </a:t>
            </a:r>
            <a:r>
              <a:rPr sz="1550" spc="10" dirty="0">
                <a:latin typeface="Courier" charset="0"/>
                <a:cs typeface="Courier" charset="0"/>
              </a:rPr>
              <a:t>new Integer(42)</a:t>
            </a:r>
            <a:r>
              <a:rPr sz="1550" spc="10" dirty="0">
                <a:latin typeface="Arial"/>
                <a:cs typeface="Arial"/>
              </a:rPr>
              <a:t>, which </a:t>
            </a:r>
            <a:r>
              <a:rPr sz="1550" spc="5" dirty="0">
                <a:latin typeface="Arial"/>
                <a:cs typeface="Arial"/>
              </a:rPr>
              <a:t>is  </a:t>
            </a:r>
            <a:r>
              <a:rPr sz="1550" spc="10" dirty="0">
                <a:latin typeface="Arial"/>
                <a:cs typeface="Arial"/>
              </a:rPr>
              <a:t>convertible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an </a:t>
            </a:r>
            <a:r>
              <a:rPr sz="1550" spc="10" dirty="0">
                <a:latin typeface="Courier" charset="0"/>
                <a:cs typeface="Courier" charset="0"/>
              </a:rPr>
              <a:t>Object</a:t>
            </a:r>
            <a:r>
              <a:rPr sz="1550" spc="10" dirty="0">
                <a:latin typeface="Arial"/>
                <a:cs typeface="Arial"/>
              </a:rPr>
              <a:t>. But when the program </a:t>
            </a:r>
            <a:r>
              <a:rPr sz="1550" spc="5" dirty="0">
                <a:latin typeface="Arial"/>
                <a:cs typeface="Arial"/>
              </a:rPr>
              <a:t>tries to  </a:t>
            </a:r>
            <a:r>
              <a:rPr sz="1550" spc="10" dirty="0">
                <a:latin typeface="Arial"/>
                <a:cs typeface="Arial"/>
              </a:rPr>
              <a:t>store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Integer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String[]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array, </a:t>
            </a:r>
            <a:r>
              <a:rPr sz="1550" spc="10" dirty="0">
                <a:latin typeface="Arial"/>
                <a:cs typeface="Arial"/>
              </a:rPr>
              <a:t>an</a:t>
            </a:r>
            <a:r>
              <a:rPr sz="1550" spc="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exception</a:t>
            </a:r>
            <a:r>
              <a:rPr sz="1550" spc="5" dirty="0">
                <a:latin typeface="Arial"/>
                <a:cs typeface="Arial"/>
              </a:rPr>
              <a:t> is  </a:t>
            </a:r>
            <a:r>
              <a:rPr sz="1550" spc="10" dirty="0">
                <a:latin typeface="Arial"/>
                <a:cs typeface="Arial"/>
              </a:rPr>
              <a:t>thrown.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>
            <a:spLocks noChangeAspect="1"/>
          </p:cNvSpPr>
          <p:nvPr/>
        </p:nvSpPr>
        <p:spPr>
          <a:xfrm>
            <a:off x="843946" y="1004479"/>
            <a:ext cx="2146855" cy="1645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Constraining </a:t>
            </a:r>
            <a:r>
              <a:rPr spc="110" dirty="0"/>
              <a:t>Type</a:t>
            </a:r>
            <a:r>
              <a:rPr spc="-120" dirty="0"/>
              <a:t> </a:t>
            </a:r>
            <a:r>
              <a:rPr spc="110" dirty="0"/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24200" y="1594920"/>
            <a:ext cx="334878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You can place </a:t>
            </a:r>
            <a:r>
              <a:rPr sz="1300" dirty="0">
                <a:latin typeface="Arial"/>
                <a:cs typeface="Arial"/>
              </a:rPr>
              <a:t>restrictions </a:t>
            </a:r>
            <a:r>
              <a:rPr sz="1300" spc="5" dirty="0">
                <a:latin typeface="Arial"/>
                <a:cs typeface="Arial"/>
              </a:rPr>
              <a:t>on </a:t>
            </a:r>
            <a:r>
              <a:rPr sz="1300" dirty="0">
                <a:latin typeface="Arial"/>
                <a:cs typeface="Arial"/>
              </a:rPr>
              <a:t>the type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parameters</a:t>
            </a:r>
            <a:r>
              <a:rPr lang="en-US" sz="1300" spc="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 generic </a:t>
            </a:r>
            <a:r>
              <a:rPr sz="1300" spc="5" dirty="0">
                <a:latin typeface="Arial"/>
                <a:cs typeface="Arial"/>
              </a:rPr>
              <a:t>classes and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methods.</a:t>
            </a:r>
            <a:endParaRPr sz="13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5862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Constraining </a:t>
            </a:r>
            <a:r>
              <a:rPr spc="110" dirty="0"/>
              <a:t>Type</a:t>
            </a:r>
            <a:r>
              <a:rPr spc="-120" dirty="0"/>
              <a:t> </a:t>
            </a:r>
            <a:r>
              <a:rPr spc="110" dirty="0"/>
              <a:t>Variables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690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28687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9348" y="1893291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384" y="849238"/>
            <a:ext cx="5187950" cy="1191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Type variables can be constrained with</a:t>
            </a:r>
            <a:r>
              <a:rPr sz="1550" spc="-7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bounds.</a:t>
            </a:r>
            <a:endParaRPr sz="1550" dirty="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420"/>
              </a:spcBef>
            </a:pPr>
            <a:r>
              <a:rPr sz="1550" spc="15" dirty="0">
                <a:latin typeface="Arial"/>
                <a:cs typeface="Arial"/>
              </a:rPr>
              <a:t>A </a:t>
            </a:r>
            <a:r>
              <a:rPr sz="1550" spc="10" dirty="0">
                <a:latin typeface="Arial"/>
                <a:cs typeface="Arial"/>
              </a:rPr>
              <a:t>generic method, </a:t>
            </a:r>
            <a:r>
              <a:rPr sz="1550" spc="10" dirty="0">
                <a:latin typeface="Courier" charset="0"/>
                <a:cs typeface="Courier" charset="0"/>
              </a:rPr>
              <a:t>average</a:t>
            </a:r>
            <a:r>
              <a:rPr sz="1550" spc="10" dirty="0">
                <a:latin typeface="Arial"/>
                <a:cs typeface="Arial"/>
              </a:rPr>
              <a:t>, needs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be able </a:t>
            </a:r>
            <a:r>
              <a:rPr sz="1550" spc="5" dirty="0">
                <a:latin typeface="Arial"/>
                <a:cs typeface="Arial"/>
              </a:rPr>
              <a:t>to</a:t>
            </a:r>
            <a:r>
              <a:rPr sz="1550" spc="-4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measure  the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objects.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"/>
                <a:cs typeface="Arial"/>
              </a:rPr>
              <a:t>Measurable </a:t>
            </a:r>
            <a:r>
              <a:rPr sz="1550" spc="5" dirty="0">
                <a:latin typeface="Arial"/>
                <a:cs typeface="Arial"/>
              </a:rPr>
              <a:t>interface </a:t>
            </a:r>
            <a:r>
              <a:rPr sz="1550" spc="10" dirty="0">
                <a:latin typeface="Arial"/>
                <a:cs typeface="Arial"/>
              </a:rPr>
              <a:t>from Section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10.1: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165" y="2111781"/>
            <a:ext cx="5234940" cy="622606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interface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Measurable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R="3227705" algn="ctr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double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getMeasure();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9348" y="299911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1384" y="2842313"/>
            <a:ext cx="4911725" cy="59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spc="15" dirty="0">
                <a:latin typeface="Arial"/>
                <a:cs typeface="Arial"/>
              </a:rPr>
              <a:t>We </a:t>
            </a:r>
            <a:r>
              <a:rPr sz="1550" spc="10" dirty="0">
                <a:latin typeface="Arial"/>
                <a:cs typeface="Arial"/>
              </a:rPr>
              <a:t>can constrain the type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 elements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those</a:t>
            </a:r>
            <a:r>
              <a:rPr sz="1550" spc="-6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that  </a:t>
            </a:r>
            <a:r>
              <a:rPr sz="1550" spc="10" dirty="0">
                <a:latin typeface="Arial"/>
                <a:cs typeface="Arial"/>
              </a:rPr>
              <a:t>implement the </a:t>
            </a:r>
            <a:r>
              <a:rPr sz="1550" spc="10" dirty="0">
                <a:latin typeface="Courier" charset="0"/>
                <a:cs typeface="Courier" charset="0"/>
              </a:rPr>
              <a:t>Measurable</a:t>
            </a:r>
            <a:r>
              <a:rPr sz="1550" spc="-55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type: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2165" y="3502979"/>
            <a:ext cx="5234940" cy="17927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</a:t>
            </a:r>
            <a:r>
              <a:rPr sz="650" dirty="0">
                <a:latin typeface="Courier" charset="0"/>
                <a:cs typeface="Courier" charset="0"/>
              </a:rPr>
              <a:t>&lt;</a:t>
            </a:r>
            <a:r>
              <a:rPr sz="650" dirty="0">
                <a:solidFill>
                  <a:srgbClr val="006BB8"/>
                </a:solidFill>
                <a:latin typeface="Courier" charset="0"/>
                <a:cs typeface="Courier" charset="0"/>
              </a:rPr>
              <a:t>E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extends Measurable</a:t>
            </a:r>
            <a:r>
              <a:rPr sz="650" spc="5" dirty="0">
                <a:latin typeface="Courier" charset="0"/>
                <a:cs typeface="Courier" charset="0"/>
              </a:rPr>
              <a:t>&gt; double average(ArrayList&lt;E&gt;</a:t>
            </a:r>
            <a:r>
              <a:rPr sz="650" spc="-2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9348" y="396225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61384" y="3814427"/>
            <a:ext cx="4678045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This means, “E or one </a:t>
            </a:r>
            <a:r>
              <a:rPr sz="1550" spc="5" dirty="0">
                <a:latin typeface="Arial"/>
                <a:cs typeface="Arial"/>
              </a:rPr>
              <a:t>of its </a:t>
            </a:r>
            <a:r>
              <a:rPr sz="1550" spc="10" dirty="0">
                <a:latin typeface="Arial"/>
                <a:cs typeface="Arial"/>
              </a:rPr>
              <a:t>superclasses extends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or  implements</a:t>
            </a:r>
            <a:r>
              <a:rPr sz="1550" spc="-6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Measurable”.</a:t>
            </a:r>
            <a:endParaRPr sz="1550" dirty="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015"/>
              </a:spcBef>
            </a:pPr>
            <a:r>
              <a:rPr sz="1200" dirty="0">
                <a:latin typeface="Arial"/>
                <a:cs typeface="Arial"/>
              </a:rPr>
              <a:t>We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say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subtype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Measurable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type.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6352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Constraining </a:t>
            </a:r>
            <a:r>
              <a:rPr spc="110" dirty="0"/>
              <a:t>Type</a:t>
            </a:r>
            <a:r>
              <a:rPr spc="-120" dirty="0"/>
              <a:t> </a:t>
            </a:r>
            <a:r>
              <a:rPr spc="110" dirty="0"/>
              <a:t>Variables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6631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58646"/>
            <a:ext cx="2667000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Completed </a:t>
            </a:r>
            <a:r>
              <a:rPr sz="1550" spc="10" dirty="0">
                <a:latin typeface="Courier" charset="0"/>
                <a:cs typeface="Courier" charset="0"/>
              </a:rPr>
              <a:t>average</a:t>
            </a:r>
            <a:r>
              <a:rPr sz="1550" spc="-54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method: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184805"/>
            <a:ext cx="5234940" cy="1436797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7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 extends Measurable&gt; double average(ArrayList&lt;E&gt;</a:t>
            </a:r>
            <a:r>
              <a:rPr sz="650" spc="-2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207645" marR="3090545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if (objects.size() == 0) { return 0; }  double sum =</a:t>
            </a:r>
            <a:r>
              <a:rPr sz="650" spc="-8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0;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for (E obj :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sum = sum +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obj.getMeasure();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return sum /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objects.size();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292826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2820593"/>
            <a:ext cx="4021454" cy="824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5" dirty="0">
                <a:latin typeface="Arial"/>
                <a:cs typeface="Arial"/>
              </a:rPr>
              <a:t>call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obj.getMeasure()</a:t>
            </a:r>
            <a:endParaRPr sz="1550" dirty="0">
              <a:latin typeface="Courier" charset="0"/>
              <a:cs typeface="Courier" charset="0"/>
            </a:endParaRPr>
          </a:p>
          <a:p>
            <a:pPr marL="372110" marR="5080">
              <a:lnSpc>
                <a:spcPct val="136500"/>
              </a:lnSpc>
              <a:spcBef>
                <a:spcPts val="560"/>
              </a:spcBef>
            </a:pPr>
            <a:r>
              <a:rPr sz="1200" dirty="0">
                <a:latin typeface="Arial"/>
                <a:cs typeface="Arial"/>
              </a:rPr>
              <a:t>It is legal to apply the </a:t>
            </a:r>
            <a:r>
              <a:rPr sz="1200" dirty="0">
                <a:latin typeface="Courier" charset="0"/>
                <a:cs typeface="Courier" charset="0"/>
              </a:rPr>
              <a:t>getMeasure </a:t>
            </a:r>
            <a:r>
              <a:rPr sz="1200" dirty="0">
                <a:latin typeface="Arial"/>
                <a:cs typeface="Arial"/>
              </a:rPr>
              <a:t>method to </a:t>
            </a:r>
            <a:r>
              <a:rPr sz="1200" dirty="0">
                <a:latin typeface="Courier" charset="0"/>
                <a:cs typeface="Courier" charset="0"/>
              </a:rPr>
              <a:t>obj</a:t>
            </a:r>
            <a:r>
              <a:rPr sz="1200" dirty="0">
                <a:latin typeface="Arial"/>
                <a:cs typeface="Arial"/>
              </a:rPr>
              <a:t>.  </a:t>
            </a:r>
            <a:r>
              <a:rPr sz="1200" dirty="0">
                <a:latin typeface="Courier" charset="0"/>
                <a:cs typeface="Courier" charset="0"/>
              </a:rPr>
              <a:t>obj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type 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E,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subtype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Measurable</a:t>
            </a:r>
            <a:r>
              <a:rPr sz="120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94770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5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797" y="278622"/>
            <a:ext cx="4078604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60"/>
              </a:lnSpc>
            </a:pPr>
            <a:r>
              <a:rPr spc="140" dirty="0"/>
              <a:t>Constraining </a:t>
            </a:r>
            <a:r>
              <a:rPr spc="110" dirty="0"/>
              <a:t>Type Variables</a:t>
            </a:r>
            <a:r>
              <a:rPr spc="-195" dirty="0"/>
              <a:t> </a:t>
            </a:r>
            <a:r>
              <a:rPr spc="-140" dirty="0"/>
              <a:t>-  </a:t>
            </a:r>
            <a:r>
              <a:rPr spc="125" dirty="0"/>
              <a:t>Comparable</a:t>
            </a:r>
            <a:r>
              <a:rPr dirty="0"/>
              <a:t> </a:t>
            </a:r>
            <a:r>
              <a:rPr spc="65" dirty="0"/>
              <a:t>Interface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127766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59871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1384" y="1169995"/>
            <a:ext cx="4888865" cy="862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Courier" charset="0"/>
                <a:cs typeface="Courier" charset="0"/>
              </a:rPr>
              <a:t>Comparable</a:t>
            </a:r>
            <a:r>
              <a:rPr sz="1550" spc="-51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interface is </a:t>
            </a:r>
            <a:r>
              <a:rPr sz="1550" spc="10" dirty="0">
                <a:latin typeface="Arial"/>
                <a:cs typeface="Arial"/>
              </a:rPr>
              <a:t>a generic type.</a:t>
            </a:r>
            <a:endParaRPr sz="1550" dirty="0">
              <a:latin typeface="Arial"/>
              <a:cs typeface="Arial"/>
            </a:endParaRPr>
          </a:p>
          <a:p>
            <a:pPr marL="12700" marR="5080">
              <a:lnSpc>
                <a:spcPct val="120800"/>
              </a:lnSpc>
              <a:spcBef>
                <a:spcPts val="280"/>
              </a:spcBef>
            </a:pPr>
            <a:r>
              <a:rPr sz="1550" spc="10" dirty="0">
                <a:latin typeface="Arial"/>
                <a:cs typeface="Arial"/>
              </a:rPr>
              <a:t>The type parameter specifies the type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parameter  variable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10" dirty="0">
                <a:latin typeface="Courier" charset="0"/>
                <a:cs typeface="Courier" charset="0"/>
              </a:rPr>
              <a:t>compareTo</a:t>
            </a:r>
            <a:r>
              <a:rPr sz="1550" spc="-55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method: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2165" y="2111491"/>
            <a:ext cx="5234940" cy="622606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interface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Comparable&lt;T&gt;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R="3011170" algn="ctr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int compareTo(T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other);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9348" y="299882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384" y="2891157"/>
            <a:ext cx="4557395" cy="80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Courier" charset="0"/>
                <a:cs typeface="Courier" charset="0"/>
              </a:rPr>
              <a:t>String</a:t>
            </a:r>
            <a:r>
              <a:rPr sz="1550" spc="-50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class implements </a:t>
            </a:r>
            <a:r>
              <a:rPr sz="1550" spc="10" dirty="0">
                <a:latin typeface="Courier" charset="0"/>
                <a:cs typeface="Courier" charset="0"/>
              </a:rPr>
              <a:t>Comparable&lt;String&gt;</a:t>
            </a:r>
            <a:endParaRPr sz="1550" dirty="0">
              <a:latin typeface="Courier" charset="0"/>
              <a:cs typeface="Courier" charset="0"/>
            </a:endParaRPr>
          </a:p>
          <a:p>
            <a:pPr marL="372110" marR="1212850">
              <a:lnSpc>
                <a:spcPct val="131700"/>
              </a:lnSpc>
              <a:spcBef>
                <a:spcPts val="560"/>
              </a:spcBef>
            </a:pPr>
            <a:r>
              <a:rPr sz="1200" dirty="0">
                <a:latin typeface="Arial"/>
                <a:cs typeface="Arial"/>
              </a:rPr>
              <a:t>A String can be compared to other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String</a:t>
            </a:r>
            <a:r>
              <a:rPr sz="1200" dirty="0">
                <a:latin typeface="Arial"/>
                <a:cs typeface="Arial"/>
              </a:rPr>
              <a:t>.  But not with objects of a different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class.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948190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5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1797" y="279113"/>
            <a:ext cx="4078604" cy="622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60"/>
              </a:lnSpc>
            </a:pPr>
            <a:r>
              <a:rPr spc="140" dirty="0"/>
              <a:t>Constraining </a:t>
            </a:r>
            <a:r>
              <a:rPr spc="110" dirty="0"/>
              <a:t>Type Variables</a:t>
            </a:r>
            <a:r>
              <a:rPr spc="-195" dirty="0"/>
              <a:t> </a:t>
            </a:r>
            <a:r>
              <a:rPr spc="-140" dirty="0"/>
              <a:t>-  </a:t>
            </a:r>
            <a:r>
              <a:rPr spc="125" dirty="0"/>
              <a:t>Comparable</a:t>
            </a:r>
            <a:r>
              <a:rPr dirty="0"/>
              <a:t> </a:t>
            </a:r>
            <a:r>
              <a:rPr spc="65" dirty="0"/>
              <a:t>Interface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127815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1130328"/>
            <a:ext cx="4916805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5" dirty="0">
                <a:latin typeface="Arial"/>
                <a:cs typeface="Arial"/>
              </a:rPr>
              <a:t>When </a:t>
            </a:r>
            <a:r>
              <a:rPr sz="1550" spc="5" dirty="0">
                <a:latin typeface="Arial"/>
                <a:cs typeface="Arial"/>
              </a:rPr>
              <a:t>writing </a:t>
            </a:r>
            <a:r>
              <a:rPr sz="1550" spc="10" dirty="0">
                <a:latin typeface="Arial"/>
                <a:cs typeface="Arial"/>
              </a:rPr>
              <a:t>a generic method </a:t>
            </a:r>
            <a:r>
              <a:rPr sz="1550" spc="10" dirty="0">
                <a:latin typeface="Courier" charset="0"/>
                <a:cs typeface="Courier" charset="0"/>
              </a:rPr>
              <a:t>min</a:t>
            </a:r>
            <a:r>
              <a:rPr sz="1550" spc="-53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to find </a:t>
            </a:r>
            <a:r>
              <a:rPr sz="1550" spc="10" dirty="0">
                <a:latin typeface="Arial"/>
                <a:cs typeface="Arial"/>
              </a:rPr>
              <a:t>the smallest  element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an array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list,</a:t>
            </a:r>
            <a:endParaRPr sz="1550" dirty="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015"/>
              </a:spcBef>
            </a:pPr>
            <a:r>
              <a:rPr sz="1200" dirty="0">
                <a:latin typeface="Arial"/>
                <a:cs typeface="Arial"/>
              </a:rPr>
              <a:t>Require that type parameter </a:t>
            </a:r>
            <a:r>
              <a:rPr sz="1200" dirty="0">
                <a:latin typeface="Courier" charset="0"/>
                <a:cs typeface="Courier" charset="0"/>
              </a:rPr>
              <a:t>E</a:t>
            </a:r>
            <a:r>
              <a:rPr sz="1200" spc="-420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implements </a:t>
            </a:r>
            <a:r>
              <a:rPr sz="1200" dirty="0">
                <a:latin typeface="Courier" charset="0"/>
                <a:cs typeface="Courier" charset="0"/>
              </a:rPr>
              <a:t>Comparable&lt;E&gt;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38883" y="2076310"/>
            <a:ext cx="4619625" cy="173926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520"/>
              </a:spcBef>
            </a:pPr>
            <a:r>
              <a:rPr sz="600" spc="-5" dirty="0">
                <a:latin typeface="Courier" charset="0"/>
                <a:cs typeface="Courier" charset="0"/>
              </a:rPr>
              <a:t>public static &lt;E extends Comparable&lt;E&gt;&gt; E min(ArrayList&lt;E&gt;</a:t>
            </a:r>
            <a:r>
              <a:rPr sz="600" spc="-2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objects)</a:t>
            </a:r>
            <a:endParaRPr sz="600" dirty="0">
              <a:latin typeface="Courier" charset="0"/>
              <a:cs typeface="Courier" charset="0"/>
            </a:endParaRPr>
          </a:p>
          <a:p>
            <a:pPr marL="5270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E smallest =</a:t>
            </a:r>
            <a:r>
              <a:rPr sz="600" spc="-7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objects.get(0);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for (int i = 1; i &lt; objects.size();</a:t>
            </a:r>
            <a:r>
              <a:rPr sz="600" spc="-6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i++)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L="32575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E obj =</a:t>
            </a:r>
            <a:r>
              <a:rPr sz="600" spc="-8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objects.get(i);</a:t>
            </a:r>
            <a:endParaRPr sz="600" dirty="0">
              <a:latin typeface="Courier" charset="0"/>
              <a:cs typeface="Courier" charset="0"/>
            </a:endParaRPr>
          </a:p>
          <a:p>
            <a:pPr marL="32575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if (obj.compareTo(smallest) &lt;</a:t>
            </a:r>
            <a:r>
              <a:rPr sz="600" spc="-65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0)</a:t>
            </a:r>
            <a:endParaRPr sz="600" dirty="0">
              <a:latin typeface="Courier" charset="0"/>
              <a:cs typeface="Courier" charset="0"/>
            </a:endParaRPr>
          </a:p>
          <a:p>
            <a:pPr marL="32575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{</a:t>
            </a:r>
            <a:endParaRPr sz="600" dirty="0">
              <a:latin typeface="Courier" charset="0"/>
              <a:cs typeface="Courier" charset="0"/>
            </a:endParaRPr>
          </a:p>
          <a:p>
            <a:pPr marR="2996565" algn="ctr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smallest =</a:t>
            </a:r>
            <a:r>
              <a:rPr sz="600" spc="-9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obj;</a:t>
            </a:r>
            <a:endParaRPr sz="600" dirty="0">
              <a:latin typeface="Courier" charset="0"/>
              <a:cs typeface="Courier" charset="0"/>
            </a:endParaRPr>
          </a:p>
          <a:p>
            <a:pPr marL="32575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return</a:t>
            </a:r>
            <a:r>
              <a:rPr sz="600" spc="-85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smallest;</a:t>
            </a:r>
            <a:endParaRPr sz="600" dirty="0">
              <a:latin typeface="Courier" charset="0"/>
              <a:cs typeface="Courier" charset="0"/>
            </a:endParaRPr>
          </a:p>
          <a:p>
            <a:pPr marL="52705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}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403379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3885971"/>
            <a:ext cx="527240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Because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 type </a:t>
            </a:r>
            <a:r>
              <a:rPr sz="1550" spc="5" dirty="0">
                <a:latin typeface="Arial"/>
                <a:cs typeface="Arial"/>
              </a:rPr>
              <a:t>constraint, </a:t>
            </a:r>
            <a:r>
              <a:rPr sz="1550" spc="10" dirty="0">
                <a:latin typeface="Courier" charset="0"/>
                <a:cs typeface="Courier" charset="0"/>
              </a:rPr>
              <a:t>obj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must have a method </a:t>
            </a:r>
            <a:r>
              <a:rPr sz="1550" spc="5" dirty="0">
                <a:latin typeface="Arial"/>
                <a:cs typeface="Arial"/>
              </a:rPr>
              <a:t>of  this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form: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165" y="4537661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int compareTo(E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other)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886" y="4898044"/>
            <a:ext cx="2182495" cy="200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So the the following call is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valid: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1338883" y="5167340"/>
            <a:ext cx="4619625" cy="174407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340"/>
              </a:spcBef>
            </a:pPr>
            <a:r>
              <a:rPr sz="850" spc="-5" dirty="0">
                <a:latin typeface="Courier" charset="0"/>
                <a:cs typeface="Courier" charset="0"/>
              </a:rPr>
              <a:t>obj.compareTo(smallest)</a:t>
            </a:r>
            <a:endParaRPr sz="8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5773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Constraining </a:t>
            </a:r>
            <a:r>
              <a:rPr spc="110" dirty="0"/>
              <a:t>Type</a:t>
            </a:r>
            <a:r>
              <a:rPr spc="-120" dirty="0"/>
              <a:t> </a:t>
            </a:r>
            <a:r>
              <a:rPr spc="110" dirty="0"/>
              <a:t>Variables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681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08992"/>
            <a:ext cx="491109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Very occasionally, you need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supply two or more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  bounds: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1764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&lt;E 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extends Comparable&lt;E&gt; &amp;</a:t>
            </a:r>
            <a:r>
              <a:rPr sz="950" spc="-7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Cloneable</a:t>
            </a:r>
            <a:r>
              <a:rPr sz="950" spc="-5" dirty="0">
                <a:latin typeface="Courier" charset="0"/>
                <a:cs typeface="Courier" charset="0"/>
              </a:rPr>
              <a:t>&gt;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191103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9348" y="251745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9348" y="284742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961384" y="1123828"/>
            <a:ext cx="5392430" cy="2141421"/>
          </a:xfrm>
          <a:prstGeom prst="rect">
            <a:avLst/>
          </a:prstGeom>
        </p:spPr>
        <p:txBody>
          <a:bodyPr vert="horz" wrap="square" lIns="0" tIns="639383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pc="10" dirty="0">
                <a:latin typeface="Courier" charset="0"/>
                <a:cs typeface="Courier" charset="0"/>
              </a:rPr>
              <a:t>extends</a:t>
            </a:r>
            <a:r>
              <a:rPr spc="10" dirty="0"/>
              <a:t>, when applied </a:t>
            </a:r>
            <a:r>
              <a:rPr spc="5" dirty="0"/>
              <a:t>to </a:t>
            </a:r>
            <a:r>
              <a:rPr spc="10" dirty="0"/>
              <a:t>type parameters, </a:t>
            </a:r>
            <a:r>
              <a:rPr spc="5" dirty="0"/>
              <a:t>actually </a:t>
            </a:r>
            <a:r>
              <a:rPr spc="10" dirty="0"/>
              <a:t>means  “extends or</a:t>
            </a:r>
            <a:r>
              <a:rPr spc="-95" dirty="0"/>
              <a:t> </a:t>
            </a:r>
            <a:r>
              <a:rPr spc="10" dirty="0"/>
              <a:t>implements.”</a:t>
            </a: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pc="10" dirty="0"/>
              <a:t>The bounds can be </a:t>
            </a:r>
            <a:r>
              <a:rPr spc="5" dirty="0"/>
              <a:t>either </a:t>
            </a:r>
            <a:r>
              <a:rPr spc="10" dirty="0"/>
              <a:t>classes or</a:t>
            </a:r>
            <a:r>
              <a:rPr dirty="0"/>
              <a:t> </a:t>
            </a:r>
            <a:r>
              <a:rPr spc="5" dirty="0"/>
              <a:t>interfaces.</a:t>
            </a:r>
          </a:p>
          <a:p>
            <a:pPr marL="12700" marR="170180">
              <a:lnSpc>
                <a:spcPct val="117000"/>
              </a:lnSpc>
              <a:spcBef>
                <a:spcPts val="420"/>
              </a:spcBef>
            </a:pPr>
            <a:r>
              <a:rPr spc="10" dirty="0"/>
              <a:t>Type parameters can be replaced with a class or</a:t>
            </a:r>
            <a:r>
              <a:rPr spc="-40" dirty="0"/>
              <a:t> </a:t>
            </a:r>
            <a:r>
              <a:rPr spc="5" dirty="0"/>
              <a:t>interface  </a:t>
            </a:r>
            <a:r>
              <a:rPr spc="10" dirty="0"/>
              <a:t>type.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5530"/>
            <a:ext cx="5940425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0"/>
              </a:lnSpc>
            </a:pPr>
            <a:r>
              <a:rPr sz="1300" spc="5" dirty="0">
                <a:latin typeface="Arial"/>
                <a:cs typeface="Arial"/>
              </a:rPr>
              <a:t>How would you </a:t>
            </a:r>
            <a:r>
              <a:rPr sz="1300" dirty="0">
                <a:latin typeface="Arial"/>
                <a:cs typeface="Arial"/>
              </a:rPr>
              <a:t>constrain the type </a:t>
            </a:r>
            <a:r>
              <a:rPr sz="1300" spc="5" dirty="0">
                <a:latin typeface="Arial"/>
                <a:cs typeface="Arial"/>
              </a:rPr>
              <a:t>parameter </a:t>
            </a:r>
            <a:r>
              <a:rPr sz="1300" dirty="0">
                <a:latin typeface="Arial"/>
                <a:cs typeface="Arial"/>
              </a:rPr>
              <a:t>for </a:t>
            </a:r>
            <a:r>
              <a:rPr sz="1300" spc="5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generic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spc="5" dirty="0">
                <a:latin typeface="Courier" charset="0"/>
                <a:cs typeface="Courier" charset="0"/>
              </a:rPr>
              <a:t>BinarySearchTree</a:t>
            </a:r>
            <a:endParaRPr sz="1300" dirty="0">
              <a:latin typeface="Courier" charset="0"/>
              <a:cs typeface="Courier" charset="0"/>
            </a:endParaRPr>
          </a:p>
          <a:p>
            <a:pPr marL="12700">
              <a:lnSpc>
                <a:spcPts val="1550"/>
              </a:lnSpc>
            </a:pPr>
            <a:r>
              <a:rPr sz="1300" dirty="0">
                <a:latin typeface="Arial"/>
                <a:cs typeface="Arial"/>
              </a:rPr>
              <a:t>class?</a:t>
            </a: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673933"/>
            <a:ext cx="5234940" cy="17927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class BinarySearchTree&lt;E extends</a:t>
            </a:r>
            <a:r>
              <a:rPr sz="650" spc="-4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Comparable&lt;E&gt;&gt;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2025538"/>
            <a:ext cx="300164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5" dirty="0">
                <a:latin typeface="Arial"/>
                <a:cs typeface="Arial"/>
              </a:rPr>
              <a:t>or, if </a:t>
            </a:r>
            <a:r>
              <a:rPr sz="1550" spc="10" dirty="0">
                <a:latin typeface="Arial"/>
                <a:cs typeface="Arial"/>
              </a:rPr>
              <a:t>you read Special Topic</a:t>
            </a:r>
            <a:r>
              <a:rPr sz="1550" spc="-7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18.1,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2351696"/>
            <a:ext cx="5234940" cy="17927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class BinarySearchTree&lt;E extends Comparable&lt;? super</a:t>
            </a:r>
            <a:r>
              <a:rPr sz="650" spc="-4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E&gt;&gt;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9086"/>
            <a:ext cx="5931535" cy="783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</a:pPr>
            <a:r>
              <a:rPr sz="1300" spc="5" dirty="0">
                <a:latin typeface="Arial"/>
                <a:cs typeface="Arial"/>
              </a:rPr>
              <a:t>Modify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Courier" charset="0"/>
                <a:cs typeface="Courier" charset="0"/>
              </a:rPr>
              <a:t>min</a:t>
            </a:r>
            <a:r>
              <a:rPr sz="1300" spc="-420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to </a:t>
            </a:r>
            <a:r>
              <a:rPr sz="1300" spc="5" dirty="0">
                <a:latin typeface="Arial"/>
                <a:cs typeface="Arial"/>
              </a:rPr>
              <a:t>compute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Arial"/>
                <a:cs typeface="Arial"/>
              </a:rPr>
              <a:t>minimum </a:t>
            </a:r>
            <a:r>
              <a:rPr sz="1300" dirty="0">
                <a:latin typeface="Arial"/>
                <a:cs typeface="Arial"/>
              </a:rPr>
              <a:t>of </a:t>
            </a:r>
            <a:r>
              <a:rPr sz="1300" spc="5" dirty="0">
                <a:latin typeface="Arial"/>
                <a:cs typeface="Arial"/>
              </a:rPr>
              <a:t>an </a:t>
            </a:r>
            <a:r>
              <a:rPr sz="1300" dirty="0">
                <a:latin typeface="Arial"/>
                <a:cs typeface="Arial"/>
              </a:rPr>
              <a:t>array list of </a:t>
            </a:r>
            <a:r>
              <a:rPr sz="1300" spc="5" dirty="0">
                <a:latin typeface="Arial"/>
                <a:cs typeface="Arial"/>
              </a:rPr>
              <a:t>elements </a:t>
            </a:r>
            <a:r>
              <a:rPr sz="1300" dirty="0">
                <a:latin typeface="Arial"/>
                <a:cs typeface="Arial"/>
              </a:rPr>
              <a:t>that  </a:t>
            </a:r>
            <a:r>
              <a:rPr sz="1300" spc="5" dirty="0">
                <a:latin typeface="Arial"/>
                <a:cs typeface="Arial"/>
              </a:rPr>
              <a:t>implements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Courier" charset="0"/>
                <a:cs typeface="Courier" charset="0"/>
              </a:rPr>
              <a:t>Measurable</a:t>
            </a:r>
            <a:r>
              <a:rPr sz="1300" spc="-45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interface.</a:t>
            </a: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683341"/>
            <a:ext cx="5234940" cy="1841267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 extends Measurable&gt; E min(ArrayList&lt;E&gt;</a:t>
            </a:r>
            <a:r>
              <a:rPr sz="650" spc="-3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E smallest =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objects.get(0);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for (int i = 1; i &lt; objects.size();</a:t>
            </a:r>
            <a:r>
              <a:rPr sz="650" spc="-6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i++)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E obj =</a:t>
            </a:r>
            <a:r>
              <a:rPr sz="650" spc="-7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objects.get(i);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if (obj.getMeasure() &lt;</a:t>
            </a:r>
            <a:r>
              <a:rPr sz="650" spc="-5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smallest.getMeasure())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R="3438525" algn="ctr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smallest =</a:t>
            </a:r>
            <a:r>
              <a:rPr sz="650" spc="-8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obj;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return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smallest;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43876"/>
            <a:ext cx="523811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Could we have declared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Courier" charset="0"/>
                <a:cs typeface="Courier" charset="0"/>
              </a:rPr>
              <a:t>min</a:t>
            </a:r>
            <a:r>
              <a:rPr sz="1300" spc="-44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of Self </a:t>
            </a:r>
            <a:r>
              <a:rPr sz="1300" spc="5" dirty="0">
                <a:latin typeface="Arial"/>
                <a:cs typeface="Arial"/>
              </a:rPr>
              <a:t>Check 17 </a:t>
            </a:r>
            <a:r>
              <a:rPr sz="1300" dirty="0">
                <a:latin typeface="Arial"/>
                <a:cs typeface="Arial"/>
              </a:rPr>
              <a:t>without type  </a:t>
            </a:r>
            <a:r>
              <a:rPr sz="1300" spc="5" dirty="0">
                <a:latin typeface="Arial"/>
                <a:cs typeface="Arial"/>
              </a:rPr>
              <a:t>parameters, </a:t>
            </a:r>
            <a:r>
              <a:rPr sz="1300" dirty="0">
                <a:latin typeface="Arial"/>
                <a:cs typeface="Arial"/>
              </a:rPr>
              <a:t>like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053" y="1290172"/>
            <a:ext cx="5761355" cy="17184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40"/>
              </a:spcBef>
            </a:pPr>
            <a:r>
              <a:rPr sz="750" spc="20" dirty="0">
                <a:latin typeface="Courier" charset="0"/>
                <a:cs typeface="Courier" charset="0"/>
              </a:rPr>
              <a:t>public static Measurable min(ArrayList&lt;Measurable&gt;</a:t>
            </a:r>
            <a:r>
              <a:rPr sz="750" spc="1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a)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61384" y="1123828"/>
            <a:ext cx="5392430" cy="1618807"/>
          </a:xfrm>
          <a:prstGeom prst="rect">
            <a:avLst/>
          </a:prstGeom>
        </p:spPr>
        <p:txBody>
          <a:bodyPr vert="horz" wrap="square" lIns="0" tIns="459897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b="1" spc="10" dirty="0">
                <a:latin typeface="Arial"/>
                <a:cs typeface="Arial"/>
              </a:rPr>
              <a:t>Answer: </a:t>
            </a:r>
            <a:r>
              <a:rPr spc="10" dirty="0"/>
              <a:t>No. As described </a:t>
            </a:r>
            <a:r>
              <a:rPr spc="5" dirty="0"/>
              <a:t>in </a:t>
            </a:r>
            <a:r>
              <a:rPr spc="15" dirty="0"/>
              <a:t>Common </a:t>
            </a:r>
            <a:r>
              <a:rPr spc="10" dirty="0"/>
              <a:t>Error 18.1, you  cannot convert an </a:t>
            </a:r>
            <a:r>
              <a:rPr spc="10" dirty="0">
                <a:latin typeface="Courier" charset="0"/>
                <a:cs typeface="Courier" charset="0"/>
              </a:rPr>
              <a:t>ArrayList&lt;BankAccount&gt;</a:t>
            </a:r>
            <a:r>
              <a:rPr spc="-430" dirty="0">
                <a:latin typeface="Courier" charset="0"/>
                <a:cs typeface="Courier" charset="0"/>
              </a:rPr>
              <a:t> </a:t>
            </a:r>
            <a:r>
              <a:rPr spc="5" dirty="0"/>
              <a:t>to </a:t>
            </a:r>
            <a:r>
              <a:rPr spc="10" dirty="0"/>
              <a:t>an  </a:t>
            </a:r>
            <a:r>
              <a:rPr spc="10" dirty="0">
                <a:latin typeface="Courier" charset="0"/>
                <a:cs typeface="Courier" charset="0"/>
              </a:rPr>
              <a:t>ArrayList&lt;Measurable&gt;</a:t>
            </a:r>
            <a:r>
              <a:rPr spc="10" dirty="0"/>
              <a:t>, even </a:t>
            </a:r>
            <a:r>
              <a:rPr spc="5" dirty="0"/>
              <a:t>if </a:t>
            </a:r>
            <a:r>
              <a:rPr spc="10" dirty="0">
                <a:latin typeface="Courier" charset="0"/>
                <a:cs typeface="Courier" charset="0"/>
              </a:rPr>
              <a:t>BankAccount  </a:t>
            </a:r>
            <a:r>
              <a:rPr spc="10" dirty="0"/>
              <a:t>implements</a:t>
            </a:r>
            <a:r>
              <a:rPr spc="-50" dirty="0"/>
              <a:t> </a:t>
            </a:r>
            <a:r>
              <a:rPr spc="10" dirty="0">
                <a:latin typeface="Courier" charset="0"/>
                <a:cs typeface="Courier" charset="0"/>
              </a:rPr>
              <a:t>Measurable</a:t>
            </a:r>
            <a:r>
              <a:rPr spc="1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44367"/>
            <a:ext cx="523811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spc="5" dirty="0">
                <a:latin typeface="Arial"/>
                <a:cs typeface="Arial"/>
              </a:rPr>
              <a:t>Could we have declared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Courier" charset="0"/>
                <a:cs typeface="Courier" charset="0"/>
              </a:rPr>
              <a:t>min</a:t>
            </a:r>
            <a:r>
              <a:rPr sz="1300" spc="-44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of Self </a:t>
            </a:r>
            <a:r>
              <a:rPr sz="1300" spc="5" dirty="0">
                <a:latin typeface="Arial"/>
                <a:cs typeface="Arial"/>
              </a:rPr>
              <a:t>Check 17 </a:t>
            </a:r>
            <a:r>
              <a:rPr sz="1300" dirty="0">
                <a:latin typeface="Arial"/>
                <a:cs typeface="Arial"/>
              </a:rPr>
              <a:t>without type  </a:t>
            </a:r>
            <a:r>
              <a:rPr sz="1300" spc="5" dirty="0">
                <a:latin typeface="Arial"/>
                <a:cs typeface="Arial"/>
              </a:rPr>
              <a:t>parameters </a:t>
            </a:r>
            <a:r>
              <a:rPr sz="1300" dirty="0">
                <a:latin typeface="Arial"/>
                <a:cs typeface="Arial"/>
              </a:rPr>
              <a:t>for arrays, like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053" y="1290662"/>
            <a:ext cx="5761355" cy="17184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40"/>
              </a:spcBef>
            </a:pPr>
            <a:r>
              <a:rPr sz="750" spc="20" dirty="0">
                <a:latin typeface="Courier" charset="0"/>
                <a:cs typeface="Courier" charset="0"/>
              </a:rPr>
              <a:t>public static Measurable min(Measurable[]</a:t>
            </a:r>
            <a:r>
              <a:rPr sz="750" spc="-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a)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61384" y="1123828"/>
            <a:ext cx="5392430" cy="1907907"/>
          </a:xfrm>
          <a:prstGeom prst="rect">
            <a:avLst/>
          </a:prstGeom>
        </p:spPr>
        <p:txBody>
          <a:bodyPr vert="horz" wrap="square" lIns="0" tIns="460387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b="1" spc="10" dirty="0">
                <a:latin typeface="Arial"/>
                <a:cs typeface="Arial"/>
              </a:rPr>
              <a:t>Answer: </a:t>
            </a:r>
            <a:r>
              <a:rPr spc="10" dirty="0"/>
              <a:t>Yes, but </a:t>
            </a:r>
            <a:r>
              <a:rPr spc="5" dirty="0"/>
              <a:t>this </a:t>
            </a:r>
            <a:r>
              <a:rPr spc="10" dirty="0"/>
              <a:t>method would not be as </a:t>
            </a:r>
            <a:r>
              <a:rPr spc="5" dirty="0"/>
              <a:t>useful.  </a:t>
            </a:r>
            <a:r>
              <a:rPr spc="10" dirty="0"/>
              <a:t>Suppose accounts </a:t>
            </a:r>
            <a:r>
              <a:rPr spc="5" dirty="0"/>
              <a:t>is </a:t>
            </a:r>
            <a:r>
              <a:rPr spc="10" dirty="0"/>
              <a:t>an array </a:t>
            </a:r>
            <a:r>
              <a:rPr spc="5" dirty="0"/>
              <a:t>of </a:t>
            </a:r>
            <a:r>
              <a:rPr spc="10" dirty="0">
                <a:latin typeface="Courier" charset="0"/>
                <a:cs typeface="Courier" charset="0"/>
              </a:rPr>
              <a:t>BankAccount </a:t>
            </a:r>
            <a:r>
              <a:rPr spc="5" dirty="0"/>
              <a:t>objects.  </a:t>
            </a:r>
            <a:r>
              <a:rPr spc="10" dirty="0"/>
              <a:t>With </a:t>
            </a:r>
            <a:r>
              <a:rPr spc="5" dirty="0"/>
              <a:t>this </a:t>
            </a:r>
            <a:r>
              <a:rPr spc="10" dirty="0"/>
              <a:t>method, </a:t>
            </a:r>
            <a:r>
              <a:rPr spc="10" dirty="0">
                <a:latin typeface="Courier" charset="0"/>
                <a:cs typeface="Courier" charset="0"/>
              </a:rPr>
              <a:t>min(accounts)</a:t>
            </a:r>
            <a:r>
              <a:rPr spc="-425" dirty="0">
                <a:latin typeface="Courier" charset="0"/>
                <a:cs typeface="Courier" charset="0"/>
              </a:rPr>
              <a:t> </a:t>
            </a:r>
            <a:r>
              <a:rPr spc="10" dirty="0"/>
              <a:t>would return a </a:t>
            </a:r>
            <a:r>
              <a:rPr spc="5" dirty="0"/>
              <a:t>result of  </a:t>
            </a:r>
            <a:r>
              <a:rPr spc="10" dirty="0"/>
              <a:t>type </a:t>
            </a:r>
            <a:r>
              <a:rPr spc="10" dirty="0">
                <a:latin typeface="Courier" charset="0"/>
                <a:cs typeface="Courier" charset="0"/>
              </a:rPr>
              <a:t>Measurable</a:t>
            </a:r>
            <a:r>
              <a:rPr spc="10" dirty="0"/>
              <a:t>, whereas the generic method </a:t>
            </a:r>
            <a:r>
              <a:rPr spc="5" dirty="0"/>
              <a:t>yields </a:t>
            </a:r>
            <a:r>
              <a:rPr spc="10" dirty="0"/>
              <a:t>a  </a:t>
            </a:r>
            <a:r>
              <a:rPr spc="10" dirty="0">
                <a:latin typeface="Courier" charset="0"/>
                <a:cs typeface="Courier" charset="0"/>
              </a:rPr>
              <a:t>BankAccount</a:t>
            </a:r>
            <a:r>
              <a:rPr spc="10" dirty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6221"/>
            <a:ext cx="502856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How would you implement </a:t>
            </a:r>
            <a:r>
              <a:rPr sz="1300" dirty="0">
                <a:latin typeface="Arial"/>
                <a:cs typeface="Arial"/>
              </a:rPr>
              <a:t>the generic </a:t>
            </a:r>
            <a:r>
              <a:rPr sz="1300" spc="5" dirty="0">
                <a:latin typeface="Courier" charset="0"/>
                <a:cs typeface="Courier" charset="0"/>
              </a:rPr>
              <a:t>average</a:t>
            </a:r>
            <a:r>
              <a:rPr sz="1300" spc="-46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for </a:t>
            </a:r>
            <a:r>
              <a:rPr sz="1300" spc="5" dirty="0">
                <a:latin typeface="Arial"/>
                <a:cs typeface="Arial"/>
              </a:rPr>
              <a:t>arrays?</a:t>
            </a:r>
            <a:endParaRPr sz="130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478429"/>
            <a:ext cx="5234940" cy="1436798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 extends Measurable&gt; double average(E[]</a:t>
            </a:r>
            <a:r>
              <a:rPr sz="650" spc="-3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207645" marR="3090545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if (objects.length == 0) { return 0; }  double sum =</a:t>
            </a:r>
            <a:r>
              <a:rPr sz="650" spc="-8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0;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for (E obj :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sum = sum +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obj.getMeasure();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return sum /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objects.length;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5159"/>
            <a:ext cx="5418455" cy="759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dirty="0">
                <a:latin typeface="Arial"/>
                <a:cs typeface="Arial"/>
              </a:rPr>
              <a:t>Is it </a:t>
            </a:r>
            <a:r>
              <a:rPr sz="1300" spc="5" dirty="0">
                <a:latin typeface="Arial"/>
                <a:cs typeface="Arial"/>
              </a:rPr>
              <a:t>necessary </a:t>
            </a:r>
            <a:r>
              <a:rPr sz="1300" dirty="0">
                <a:latin typeface="Arial"/>
                <a:cs typeface="Arial"/>
              </a:rPr>
              <a:t>to </a:t>
            </a:r>
            <a:r>
              <a:rPr sz="1300" spc="5" dirty="0">
                <a:latin typeface="Arial"/>
                <a:cs typeface="Arial"/>
              </a:rPr>
              <a:t>use a </a:t>
            </a:r>
            <a:r>
              <a:rPr sz="1300" dirty="0">
                <a:latin typeface="Arial"/>
                <a:cs typeface="Arial"/>
              </a:rPr>
              <a:t>generic </a:t>
            </a:r>
            <a:r>
              <a:rPr sz="1300" spc="5" dirty="0">
                <a:latin typeface="Arial"/>
                <a:cs typeface="Arial"/>
              </a:rPr>
              <a:t>average method </a:t>
            </a:r>
            <a:r>
              <a:rPr sz="1300" dirty="0">
                <a:latin typeface="Arial"/>
                <a:cs typeface="Arial"/>
              </a:rPr>
              <a:t>for arrays of </a:t>
            </a:r>
            <a:r>
              <a:rPr sz="1300" spc="5" dirty="0">
                <a:latin typeface="Arial"/>
                <a:cs typeface="Arial"/>
              </a:rPr>
              <a:t>measurable  </a:t>
            </a:r>
            <a:r>
              <a:rPr sz="1300" dirty="0">
                <a:latin typeface="Arial"/>
                <a:cs typeface="Arial"/>
              </a:rPr>
              <a:t>objects?</a:t>
            </a:r>
          </a:p>
          <a:p>
            <a:pPr marL="311785">
              <a:lnSpc>
                <a:spcPct val="100000"/>
              </a:lnSpc>
              <a:spcBef>
                <a:spcPts val="88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No. You can</a:t>
            </a:r>
            <a:r>
              <a:rPr sz="1550" spc="-6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define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664926"/>
            <a:ext cx="5234940" cy="146899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double average(Measurable[]</a:t>
            </a:r>
            <a:r>
              <a:rPr sz="950" spc="-5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objects)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 marR="2200910">
              <a:lnSpc>
                <a:spcPts val="1120"/>
              </a:lnSpc>
              <a:spcBef>
                <a:spcPts val="45"/>
              </a:spcBef>
            </a:pPr>
            <a:r>
              <a:rPr sz="950" spc="-5" dirty="0">
                <a:latin typeface="Courier" charset="0"/>
                <a:cs typeface="Courier" charset="0"/>
              </a:rPr>
              <a:t>if (objects.length == 0) { return 0; }  double sum =</a:t>
            </a:r>
            <a:r>
              <a:rPr sz="950" spc="-9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0;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080"/>
              </a:lnSpc>
            </a:pPr>
            <a:r>
              <a:rPr sz="950" spc="-5" dirty="0">
                <a:latin typeface="Courier" charset="0"/>
                <a:cs typeface="Courier" charset="0"/>
              </a:rPr>
              <a:t>for (Measurable obj :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sum = sum +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obj.getMeasure();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return sum /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objects.length;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3264987"/>
            <a:ext cx="5283835" cy="142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8900"/>
              </a:lnSpc>
            </a:pPr>
            <a:r>
              <a:rPr sz="1550" spc="10" dirty="0">
                <a:latin typeface="Arial"/>
                <a:cs typeface="Arial"/>
              </a:rPr>
              <a:t>For example, </a:t>
            </a:r>
            <a:r>
              <a:rPr sz="1550" spc="5" dirty="0">
                <a:latin typeface="Arial"/>
                <a:cs typeface="Arial"/>
              </a:rPr>
              <a:t>if </a:t>
            </a:r>
            <a:r>
              <a:rPr sz="1550" spc="10" dirty="0">
                <a:latin typeface="Courier" charset="0"/>
                <a:cs typeface="Courier" charset="0"/>
              </a:rPr>
              <a:t>BankAccount</a:t>
            </a:r>
            <a:r>
              <a:rPr sz="1550" spc="-509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implements </a:t>
            </a:r>
            <a:r>
              <a:rPr sz="1550" spc="10" dirty="0">
                <a:latin typeface="Courier" charset="0"/>
                <a:cs typeface="Courier" charset="0"/>
              </a:rPr>
              <a:t>Measurable</a:t>
            </a:r>
            <a:r>
              <a:rPr sz="1550" spc="10" dirty="0">
                <a:latin typeface="Arial"/>
                <a:cs typeface="Arial"/>
              </a:rPr>
              <a:t>, a  </a:t>
            </a:r>
            <a:r>
              <a:rPr sz="1550" spc="10" dirty="0">
                <a:latin typeface="Courier" charset="0"/>
                <a:cs typeface="Courier" charset="0"/>
              </a:rPr>
              <a:t>BankAccount[] </a:t>
            </a:r>
            <a:r>
              <a:rPr sz="1550" spc="10" dirty="0">
                <a:latin typeface="Arial"/>
                <a:cs typeface="Arial"/>
              </a:rPr>
              <a:t>array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convertible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Measurable[]  </a:t>
            </a:r>
            <a:r>
              <a:rPr sz="1550" spc="5" dirty="0">
                <a:latin typeface="Arial"/>
                <a:cs typeface="Arial"/>
              </a:rPr>
              <a:t>array. </a:t>
            </a:r>
            <a:r>
              <a:rPr sz="1550" spc="10" dirty="0">
                <a:latin typeface="Arial"/>
                <a:cs typeface="Arial"/>
              </a:rPr>
              <a:t>Contrast with </a:t>
            </a:r>
            <a:r>
              <a:rPr sz="1550" spc="5" dirty="0">
                <a:latin typeface="Arial"/>
                <a:cs typeface="Arial"/>
              </a:rPr>
              <a:t>Self </a:t>
            </a:r>
            <a:r>
              <a:rPr sz="1550" spc="10" dirty="0">
                <a:latin typeface="Arial"/>
                <a:cs typeface="Arial"/>
              </a:rPr>
              <a:t>Check 19, where the return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</a:t>
            </a:r>
            <a:endParaRPr sz="1550" dirty="0">
              <a:latin typeface="Arial"/>
              <a:cs typeface="Arial"/>
            </a:endParaRPr>
          </a:p>
          <a:p>
            <a:pPr marL="12700" marR="233045">
              <a:lnSpc>
                <a:spcPct val="117000"/>
              </a:lnSpc>
              <a:spcBef>
                <a:spcPts val="70"/>
              </a:spcBef>
            </a:pPr>
            <a:r>
              <a:rPr sz="1550" spc="10" dirty="0">
                <a:latin typeface="Arial"/>
                <a:cs typeface="Arial"/>
              </a:rPr>
              <a:t>was a generic type. Here, the return type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Courier" charset="0"/>
                <a:cs typeface="Courier" charset="0"/>
              </a:rPr>
              <a:t>double</a:t>
            </a:r>
            <a:r>
              <a:rPr sz="1550" spc="10" dirty="0">
                <a:latin typeface="Arial"/>
                <a:cs typeface="Arial"/>
              </a:rPr>
              <a:t>,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and  there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no need </a:t>
            </a:r>
            <a:r>
              <a:rPr sz="1550" spc="5" dirty="0">
                <a:latin typeface="Arial"/>
                <a:cs typeface="Arial"/>
              </a:rPr>
              <a:t>for </a:t>
            </a:r>
            <a:r>
              <a:rPr sz="1550" spc="10" dirty="0">
                <a:latin typeface="Arial"/>
                <a:cs typeface="Arial"/>
              </a:rPr>
              <a:t>using generic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types.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5394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Genericity </a:t>
            </a:r>
            <a:r>
              <a:rPr spc="140" dirty="0"/>
              <a:t>and</a:t>
            </a:r>
            <a:r>
              <a:rPr spc="-65" dirty="0"/>
              <a:t> </a:t>
            </a:r>
            <a:r>
              <a:rPr spc="75" dirty="0"/>
              <a:t>Inheritance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644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56286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1384" y="808614"/>
            <a:ext cx="5299710" cy="149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5" dirty="0">
                <a:latin typeface="Arial"/>
                <a:cs typeface="Arial"/>
              </a:rPr>
              <a:t>Common </a:t>
            </a:r>
            <a:r>
              <a:rPr sz="1550" spc="10" dirty="0">
                <a:latin typeface="Arial"/>
                <a:cs typeface="Arial"/>
              </a:rPr>
              <a:t>Error 18.1: One can not assign a subclass </a:t>
            </a:r>
            <a:r>
              <a:rPr sz="1550" spc="5" dirty="0">
                <a:latin typeface="Arial"/>
                <a:cs typeface="Arial"/>
              </a:rPr>
              <a:t>list to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  superclass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list.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Courier" charset="0"/>
                <a:cs typeface="Courier" charset="0"/>
              </a:rPr>
              <a:t>ArrayList&lt;SavingsAccount&gt;</a:t>
            </a:r>
            <a:r>
              <a:rPr sz="1550" spc="-495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not a subclass </a:t>
            </a:r>
            <a:r>
              <a:rPr sz="1550" spc="5" dirty="0">
                <a:latin typeface="Arial"/>
                <a:cs typeface="Arial"/>
              </a:rPr>
              <a:t>of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50" spc="10" dirty="0">
                <a:latin typeface="Courier" charset="0"/>
                <a:cs typeface="Courier" charset="0"/>
              </a:rPr>
              <a:t>ArrayList&lt;BankAccount&gt;</a:t>
            </a:r>
            <a:r>
              <a:rPr sz="1550" spc="10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015"/>
              </a:spcBef>
            </a:pPr>
            <a:r>
              <a:rPr sz="1200" dirty="0">
                <a:latin typeface="Arial"/>
                <a:cs typeface="Arial"/>
              </a:rPr>
              <a:t>Even though </a:t>
            </a:r>
            <a:r>
              <a:rPr sz="1200" dirty="0">
                <a:latin typeface="Courier" charset="0"/>
                <a:cs typeface="Courier" charset="0"/>
              </a:rPr>
              <a:t>SavingsAccount </a:t>
            </a:r>
            <a:r>
              <a:rPr sz="1200" dirty="0">
                <a:latin typeface="Arial"/>
                <a:cs typeface="Arial"/>
              </a:rPr>
              <a:t>is a subclass of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Courier" charset="0"/>
                <a:cs typeface="Courier" charset="0"/>
              </a:rPr>
              <a:t>BankAccount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38883" y="2369934"/>
            <a:ext cx="4619625" cy="417165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52705" marR="1094740">
              <a:lnSpc>
                <a:spcPct val="1365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ArrayList&lt;SavingsAccount&gt; savingsAccounts = new ArrayList&lt;SavingsAccount&gt;();  ArrayList&lt;BankAccount&gt; bankAccounts =</a:t>
            </a:r>
            <a:r>
              <a:rPr sz="600" spc="-35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savingsAccounts;</a:t>
            </a:r>
            <a:endParaRPr sz="600" dirty="0">
              <a:latin typeface="Courier" charset="0"/>
              <a:cs typeface="Courier" charset="0"/>
            </a:endParaRPr>
          </a:p>
          <a:p>
            <a:pPr marL="189230">
              <a:lnSpc>
                <a:spcPct val="100000"/>
              </a:lnSpc>
              <a:spcBef>
                <a:spcPts val="260"/>
              </a:spcBef>
            </a:pPr>
            <a:r>
              <a:rPr sz="600" spc="-5" dirty="0">
                <a:latin typeface="Courier" charset="0"/>
                <a:cs typeface="Courier" charset="0"/>
              </a:rPr>
              <a:t>// Not legal - compile-time</a:t>
            </a:r>
            <a:r>
              <a:rPr sz="600" spc="-70" dirty="0">
                <a:latin typeface="Courier" charset="0"/>
                <a:cs typeface="Courier" charset="0"/>
              </a:rPr>
              <a:t> </a:t>
            </a:r>
            <a:r>
              <a:rPr sz="600" spc="-5" dirty="0">
                <a:latin typeface="Courier" charset="0"/>
                <a:cs typeface="Courier" charset="0"/>
              </a:rPr>
              <a:t>error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9348" y="306999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384" y="2922165"/>
            <a:ext cx="506666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5" dirty="0">
                <a:latin typeface="Arial"/>
                <a:cs typeface="Arial"/>
              </a:rPr>
              <a:t>Common </a:t>
            </a:r>
            <a:r>
              <a:rPr sz="1550" spc="10" dirty="0">
                <a:latin typeface="Arial"/>
                <a:cs typeface="Arial"/>
              </a:rPr>
              <a:t>Error 18.2: However, you can do the</a:t>
            </a:r>
            <a:r>
              <a:rPr sz="1550" spc="-9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equivalent  thing with</a:t>
            </a:r>
            <a:r>
              <a:rPr sz="1550" spc="-10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arrays: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2165" y="3573855"/>
            <a:ext cx="5234940" cy="320088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5880" marR="2232025">
              <a:lnSpc>
                <a:spcPct val="144000"/>
              </a:lnSpc>
              <a:spcBef>
                <a:spcPts val="250"/>
              </a:spcBef>
            </a:pPr>
            <a:r>
              <a:rPr sz="650" spc="5" dirty="0">
                <a:latin typeface="Courier" charset="0"/>
                <a:cs typeface="Courier" charset="0"/>
              </a:rPr>
              <a:t>SavingsAccount[] savingsAccounts = new SavingsAccount[10];  BankAccount bankAccounts = savingsAccounts; //</a:t>
            </a:r>
            <a:r>
              <a:rPr sz="650" spc="-4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Legal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9348" y="416689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61384" y="4059229"/>
            <a:ext cx="401129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But </a:t>
            </a:r>
            <a:r>
              <a:rPr sz="1550" spc="5" dirty="0">
                <a:latin typeface="Arial"/>
                <a:cs typeface="Arial"/>
              </a:rPr>
              <a:t>this </a:t>
            </a:r>
            <a:r>
              <a:rPr sz="1550" spc="10" dirty="0">
                <a:latin typeface="Arial"/>
                <a:cs typeface="Arial"/>
              </a:rPr>
              <a:t>assignment </a:t>
            </a:r>
            <a:r>
              <a:rPr sz="1550" spc="5" dirty="0">
                <a:latin typeface="Arial"/>
                <a:cs typeface="Arial"/>
              </a:rPr>
              <a:t>will </a:t>
            </a:r>
            <a:r>
              <a:rPr sz="1550" spc="10" dirty="0">
                <a:latin typeface="Arial"/>
                <a:cs typeface="Arial"/>
              </a:rPr>
              <a:t>give a run-time</a:t>
            </a:r>
            <a:r>
              <a:rPr sz="1550" spc="-3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error: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2165" y="4394306"/>
            <a:ext cx="5234940" cy="320088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5880" marR="1979295">
              <a:lnSpc>
                <a:spcPct val="144000"/>
              </a:lnSpc>
              <a:spcBef>
                <a:spcPts val="250"/>
              </a:spcBef>
            </a:pPr>
            <a:r>
              <a:rPr sz="650" spc="5" dirty="0">
                <a:latin typeface="Courier" charset="0"/>
                <a:cs typeface="Courier" charset="0"/>
              </a:rPr>
              <a:t>BankAccount harrysChecking = new CheckingAccount();  bankAccounts[0] = harrysChecking; // Throws</a:t>
            </a:r>
            <a:r>
              <a:rPr sz="650" spc="-3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ArrayStoreException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510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Wildcard</a:t>
            </a:r>
            <a:r>
              <a:rPr spc="-30" dirty="0"/>
              <a:t> </a:t>
            </a:r>
            <a:r>
              <a:rPr spc="145" dirty="0"/>
              <a:t>Types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41038" y="902206"/>
          <a:ext cx="4394378" cy="13468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7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949"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50" b="1" spc="15" dirty="0">
                          <a:solidFill>
                            <a:srgbClr val="2D3B65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15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50" b="1" spc="15" dirty="0">
                          <a:solidFill>
                            <a:srgbClr val="2D3B65"/>
                          </a:solidFill>
                          <a:latin typeface="Arial"/>
                          <a:cs typeface="Arial"/>
                        </a:rPr>
                        <a:t>Syntax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50" b="1" spc="15" dirty="0">
                          <a:solidFill>
                            <a:srgbClr val="2D3B65"/>
                          </a:solidFill>
                          <a:latin typeface="Arial"/>
                          <a:cs typeface="Arial"/>
                        </a:rPr>
                        <a:t>Meaning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1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0" dirty="0">
                          <a:latin typeface="Arial"/>
                          <a:cs typeface="Arial"/>
                        </a:rPr>
                        <a:t>Wildcard with lower</a:t>
                      </a:r>
                      <a:r>
                        <a:rPr sz="11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5" dirty="0">
                          <a:latin typeface="Arial"/>
                          <a:cs typeface="Arial"/>
                        </a:rPr>
                        <a:t>bound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? extends</a:t>
                      </a:r>
                      <a:r>
                        <a:rPr sz="1150" spc="-65" dirty="0">
                          <a:latin typeface="Courier" charset="0"/>
                          <a:cs typeface="Courier" charset="0"/>
                        </a:rPr>
                        <a:t> </a:t>
                      </a: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B</a:t>
                      </a:r>
                      <a:endParaRPr sz="115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Arial"/>
                          <a:cs typeface="Arial"/>
                        </a:rPr>
                        <a:t>Any </a:t>
                      </a:r>
                      <a:r>
                        <a:rPr sz="1150" spc="10" dirty="0">
                          <a:latin typeface="Arial"/>
                          <a:cs typeface="Arial"/>
                        </a:rPr>
                        <a:t>subtype of</a:t>
                      </a:r>
                      <a:r>
                        <a:rPr sz="115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B</a:t>
                      </a:r>
                      <a:endParaRPr sz="115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1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0" dirty="0">
                          <a:latin typeface="Arial"/>
                          <a:cs typeface="Arial"/>
                        </a:rPr>
                        <a:t>Wildcard with upper</a:t>
                      </a:r>
                      <a:r>
                        <a:rPr sz="11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5" dirty="0">
                          <a:latin typeface="Arial"/>
                          <a:cs typeface="Arial"/>
                        </a:rPr>
                        <a:t>bound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? super</a:t>
                      </a:r>
                      <a:r>
                        <a:rPr sz="1150" spc="-70" dirty="0">
                          <a:latin typeface="Courier" charset="0"/>
                          <a:cs typeface="Courier" charset="0"/>
                        </a:rPr>
                        <a:t> </a:t>
                      </a: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B</a:t>
                      </a:r>
                      <a:endParaRPr sz="115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Arial"/>
                          <a:cs typeface="Arial"/>
                        </a:rPr>
                        <a:t>Any </a:t>
                      </a:r>
                      <a:r>
                        <a:rPr sz="1150" spc="10" dirty="0">
                          <a:latin typeface="Arial"/>
                          <a:cs typeface="Arial"/>
                        </a:rPr>
                        <a:t>supertype of</a:t>
                      </a:r>
                      <a:r>
                        <a:rPr sz="11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5" dirty="0">
                          <a:latin typeface="Courier" charset="0"/>
                          <a:cs typeface="Courier" charset="0"/>
                        </a:rPr>
                        <a:t>B</a:t>
                      </a:r>
                      <a:endParaRPr sz="1150" dirty="0">
                        <a:latin typeface="Courier" charset="0"/>
                        <a:cs typeface="Courier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50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Arial"/>
                          <a:cs typeface="Arial"/>
                        </a:rPr>
                        <a:t>Unbounded</a:t>
                      </a:r>
                      <a:r>
                        <a:rPr sz="11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0" dirty="0">
                          <a:latin typeface="Arial"/>
                          <a:cs typeface="Arial"/>
                        </a:rPr>
                        <a:t>wildcard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dirty="0">
                          <a:latin typeface="Courier" charset="0"/>
                          <a:cs typeface="Courier" charset="0"/>
                        </a:rPr>
                        <a:t>?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150" spc="15" dirty="0">
                          <a:latin typeface="Arial"/>
                          <a:cs typeface="Arial"/>
                        </a:rPr>
                        <a:t>Any</a:t>
                      </a:r>
                      <a:r>
                        <a:rPr sz="115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10" dirty="0">
                          <a:latin typeface="Arial"/>
                          <a:cs typeface="Arial"/>
                        </a:rPr>
                        <a:t>type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432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2165" y="5222605"/>
            <a:ext cx="5234940" cy="27305"/>
          </a:xfrm>
          <a:custGeom>
            <a:avLst/>
            <a:gdLst/>
            <a:ahLst/>
            <a:cxnLst/>
            <a:rect l="l" t="t" r="r" b="b"/>
            <a:pathLst>
              <a:path w="5234940" h="27304">
                <a:moveTo>
                  <a:pt x="0" y="0"/>
                </a:moveTo>
                <a:lnTo>
                  <a:pt x="5234830" y="0"/>
                </a:lnTo>
                <a:lnTo>
                  <a:pt x="5234830" y="26884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2165" y="5222605"/>
            <a:ext cx="0" cy="27305"/>
          </a:xfrm>
          <a:custGeom>
            <a:avLst/>
            <a:gdLst/>
            <a:ahLst/>
            <a:cxnLst/>
            <a:rect l="l" t="t" r="r" b="b"/>
            <a:pathLst>
              <a:path h="27304">
                <a:moveTo>
                  <a:pt x="0" y="26884"/>
                </a:moveTo>
                <a:lnTo>
                  <a:pt x="0" y="0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Wildcard</a:t>
            </a:r>
            <a:r>
              <a:rPr spc="-30" dirty="0"/>
              <a:t> </a:t>
            </a:r>
            <a:r>
              <a:rPr spc="145" dirty="0"/>
              <a:t>Types</a:t>
            </a:r>
          </a:p>
        </p:txBody>
      </p:sp>
      <p:sp>
        <p:nvSpPr>
          <p:cNvPr id="6" name="object 6"/>
          <p:cNvSpPr/>
          <p:nvPr/>
        </p:nvSpPr>
        <p:spPr>
          <a:xfrm>
            <a:off x="799348" y="955371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9348" y="155287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9348" y="189175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384" y="807544"/>
            <a:ext cx="5166360" cy="1828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Wildcard types are used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formulate subtle constraints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on  type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parameters.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spc="15" dirty="0">
                <a:latin typeface="Arial"/>
                <a:cs typeface="Arial"/>
              </a:rPr>
              <a:t>A </a:t>
            </a:r>
            <a:r>
              <a:rPr sz="1550" spc="10" dirty="0">
                <a:latin typeface="Arial"/>
                <a:cs typeface="Arial"/>
              </a:rPr>
              <a:t>wildcard type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 type </a:t>
            </a:r>
            <a:r>
              <a:rPr sz="1550" spc="5" dirty="0">
                <a:latin typeface="Arial"/>
                <a:cs typeface="Arial"/>
              </a:rPr>
              <a:t>that </a:t>
            </a:r>
            <a:r>
              <a:rPr sz="1550" spc="10" dirty="0">
                <a:latin typeface="Arial"/>
                <a:cs typeface="Arial"/>
              </a:rPr>
              <a:t>can remain</a:t>
            </a:r>
            <a:r>
              <a:rPr sz="1550" spc="-6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unknown.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550" spc="15" dirty="0">
                <a:latin typeface="Arial"/>
                <a:cs typeface="Arial"/>
              </a:rPr>
              <a:t>A </a:t>
            </a:r>
            <a:r>
              <a:rPr sz="1550" spc="10" dirty="0">
                <a:latin typeface="Arial"/>
                <a:cs typeface="Arial"/>
              </a:rPr>
              <a:t>method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a </a:t>
            </a:r>
            <a:r>
              <a:rPr sz="1550" spc="10" dirty="0">
                <a:latin typeface="Courier" charset="0"/>
                <a:cs typeface="Courier" charset="0"/>
              </a:rPr>
              <a:t>LinkedList</a:t>
            </a:r>
            <a:r>
              <a:rPr sz="1550" spc="-52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class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add </a:t>
            </a:r>
            <a:r>
              <a:rPr sz="1550" spc="5" dirty="0">
                <a:latin typeface="Arial"/>
                <a:cs typeface="Arial"/>
              </a:rPr>
              <a:t>all </a:t>
            </a:r>
            <a:r>
              <a:rPr sz="1550" spc="10" dirty="0">
                <a:latin typeface="Arial"/>
                <a:cs typeface="Arial"/>
              </a:rPr>
              <a:t>elements </a:t>
            </a:r>
            <a:r>
              <a:rPr sz="1550" spc="5" dirty="0">
                <a:latin typeface="Arial"/>
                <a:cs typeface="Arial"/>
              </a:rPr>
              <a:t>of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50" spc="10" dirty="0">
                <a:latin typeface="Courier" charset="0"/>
                <a:cs typeface="Courier" charset="0"/>
              </a:rPr>
              <a:t>LinkedList</a:t>
            </a:r>
            <a:r>
              <a:rPr sz="1550" spc="-55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other</a:t>
            </a:r>
            <a:r>
              <a:rPr sz="1550" spc="10" dirty="0">
                <a:latin typeface="Arial"/>
                <a:cs typeface="Arial"/>
              </a:rPr>
              <a:t>:</a:t>
            </a:r>
            <a:endParaRPr sz="1550" dirty="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1015"/>
              </a:spcBef>
            </a:pPr>
            <a:r>
              <a:rPr sz="1200" dirty="0">
                <a:latin typeface="Courier" charset="0"/>
                <a:cs typeface="Courier" charset="0"/>
              </a:rPr>
              <a:t>other</a:t>
            </a:r>
            <a:r>
              <a:rPr sz="1200" spc="-450" dirty="0">
                <a:latin typeface="Courier" charset="0"/>
                <a:cs typeface="Courier" charset="0"/>
              </a:rPr>
              <a:t> </a:t>
            </a:r>
            <a:r>
              <a:rPr sz="1200" dirty="0">
                <a:latin typeface="Arial"/>
                <a:cs typeface="Arial"/>
              </a:rPr>
              <a:t>can be of any subclass of </a:t>
            </a:r>
            <a:r>
              <a:rPr sz="1200" spc="-5" dirty="0">
                <a:latin typeface="Courier" charset="0"/>
                <a:cs typeface="Courier" charset="0"/>
              </a:rPr>
              <a:t>E</a:t>
            </a:r>
            <a:r>
              <a:rPr sz="1200" spc="-5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8883" y="2698828"/>
            <a:ext cx="4619625" cy="105670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52705">
              <a:lnSpc>
                <a:spcPts val="1000"/>
              </a:lnSpc>
              <a:spcBef>
                <a:spcPts val="340"/>
              </a:spcBef>
            </a:pPr>
            <a:r>
              <a:rPr sz="850" spc="-5" dirty="0">
                <a:latin typeface="Courier" charset="0"/>
                <a:cs typeface="Courier" charset="0"/>
              </a:rPr>
              <a:t>public void addAll(LinkedList&lt;? extends E&gt;</a:t>
            </a:r>
            <a:r>
              <a:rPr sz="850" spc="85" dirty="0">
                <a:latin typeface="Courier" charset="0"/>
                <a:cs typeface="Courier" charset="0"/>
              </a:rPr>
              <a:t> </a:t>
            </a:r>
            <a:r>
              <a:rPr sz="850" spc="-5" dirty="0">
                <a:latin typeface="Courier" charset="0"/>
                <a:cs typeface="Courier" charset="0"/>
              </a:rPr>
              <a:t>other)</a:t>
            </a:r>
            <a:endParaRPr sz="850" dirty="0">
              <a:latin typeface="Courier" charset="0"/>
              <a:cs typeface="Courier" charset="0"/>
            </a:endParaRPr>
          </a:p>
          <a:p>
            <a:pPr marL="52705">
              <a:lnSpc>
                <a:spcPts val="985"/>
              </a:lnSpc>
            </a:pPr>
            <a:r>
              <a:rPr sz="850" spc="-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247650" marR="1496060">
              <a:lnSpc>
                <a:spcPts val="980"/>
              </a:lnSpc>
              <a:spcBef>
                <a:spcPts val="45"/>
              </a:spcBef>
            </a:pPr>
            <a:r>
              <a:rPr sz="850" spc="-5" dirty="0">
                <a:latin typeface="Courier" charset="0"/>
                <a:cs typeface="Courier" charset="0"/>
              </a:rPr>
              <a:t>ListIterator&lt;E&gt; iter = other.listIterator();  while</a:t>
            </a:r>
            <a:r>
              <a:rPr sz="850" spc="-15" dirty="0">
                <a:latin typeface="Courier" charset="0"/>
                <a:cs typeface="Courier" charset="0"/>
              </a:rPr>
              <a:t> </a:t>
            </a:r>
            <a:r>
              <a:rPr sz="850" spc="-5" dirty="0">
                <a:latin typeface="Courier" charset="0"/>
                <a:cs typeface="Courier" charset="0"/>
              </a:rPr>
              <a:t>(iter.hasNext())</a:t>
            </a:r>
            <a:endParaRPr sz="850" dirty="0">
              <a:latin typeface="Courier" charset="0"/>
              <a:cs typeface="Courier" charset="0"/>
            </a:endParaRPr>
          </a:p>
          <a:p>
            <a:pPr marL="247650">
              <a:lnSpc>
                <a:spcPts val="940"/>
              </a:lnSpc>
            </a:pPr>
            <a:r>
              <a:rPr sz="850" spc="-5" dirty="0">
                <a:latin typeface="Courier" charset="0"/>
                <a:cs typeface="Courier" charset="0"/>
              </a:rPr>
              <a:t>{</a:t>
            </a:r>
            <a:endParaRPr sz="850" dirty="0">
              <a:latin typeface="Courier" charset="0"/>
              <a:cs typeface="Courier" charset="0"/>
            </a:endParaRPr>
          </a:p>
          <a:p>
            <a:pPr marL="442595">
              <a:lnSpc>
                <a:spcPts val="985"/>
              </a:lnSpc>
            </a:pPr>
            <a:r>
              <a:rPr sz="850" spc="-5" dirty="0">
                <a:latin typeface="Courier" charset="0"/>
                <a:cs typeface="Courier" charset="0"/>
              </a:rPr>
              <a:t>add(iter.next());</a:t>
            </a:r>
            <a:endParaRPr sz="850" dirty="0">
              <a:latin typeface="Courier" charset="0"/>
              <a:cs typeface="Courier" charset="0"/>
            </a:endParaRPr>
          </a:p>
          <a:p>
            <a:pPr marL="247650">
              <a:lnSpc>
                <a:spcPts val="985"/>
              </a:lnSpc>
            </a:pPr>
            <a:r>
              <a:rPr sz="850" spc="-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  <a:p>
            <a:pPr marL="52705">
              <a:lnSpc>
                <a:spcPts val="1000"/>
              </a:lnSpc>
            </a:pPr>
            <a:r>
              <a:rPr sz="850" spc="-5" dirty="0">
                <a:latin typeface="Courier" charset="0"/>
                <a:cs typeface="Courier" charset="0"/>
              </a:rPr>
              <a:t>}</a:t>
            </a:r>
            <a:endParaRPr sz="8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9348" y="403206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61384" y="3924391"/>
            <a:ext cx="469455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This declaration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too </a:t>
            </a:r>
            <a:r>
              <a:rPr sz="1550" spc="5" dirty="0">
                <a:latin typeface="Arial"/>
                <a:cs typeface="Arial"/>
              </a:rPr>
              <a:t>restrictive for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10" dirty="0">
                <a:latin typeface="Courier" charset="0"/>
                <a:cs typeface="Courier" charset="0"/>
              </a:rPr>
              <a:t>min</a:t>
            </a:r>
            <a:r>
              <a:rPr sz="1550" spc="-53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method: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2165" y="4259467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&lt;E extends Comparable&lt;E&gt;&gt; E min(E[]</a:t>
            </a:r>
            <a:r>
              <a:rPr sz="950" spc="-5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348" y="4718741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61384" y="4570915"/>
            <a:ext cx="537083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Type parameter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10" dirty="0">
                <a:latin typeface="Courier" charset="0"/>
                <a:cs typeface="Courier" charset="0"/>
              </a:rPr>
              <a:t>Comparable</a:t>
            </a:r>
            <a:r>
              <a:rPr sz="1550" spc="-49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interface </a:t>
            </a:r>
            <a:r>
              <a:rPr sz="1550" spc="10" dirty="0">
                <a:latin typeface="Arial"/>
                <a:cs typeface="Arial"/>
              </a:rPr>
              <a:t>should be any  supertype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the array </a:t>
            </a:r>
            <a:r>
              <a:rPr sz="1550" spc="5" dirty="0">
                <a:latin typeface="Arial"/>
                <a:cs typeface="Arial"/>
              </a:rPr>
              <a:t>list’s </a:t>
            </a:r>
            <a:r>
              <a:rPr sz="1550" spc="10" dirty="0">
                <a:latin typeface="Arial"/>
                <a:cs typeface="Arial"/>
              </a:rPr>
              <a:t>element</a:t>
            </a:r>
            <a:r>
              <a:rPr sz="1550" spc="-6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6" name="object 2"/>
          <p:cNvSpPr/>
          <p:nvPr/>
        </p:nvSpPr>
        <p:spPr>
          <a:xfrm>
            <a:off x="982165" y="5222605"/>
            <a:ext cx="5234940" cy="241300"/>
          </a:xfrm>
          <a:custGeom>
            <a:avLst/>
            <a:gdLst/>
            <a:ahLst/>
            <a:cxnLst/>
            <a:rect l="l" t="t" r="r" b="b"/>
            <a:pathLst>
              <a:path w="5234940" h="241300">
                <a:moveTo>
                  <a:pt x="5234830" y="0"/>
                </a:moveTo>
                <a:lnTo>
                  <a:pt x="5234830" y="241247"/>
                </a:lnTo>
                <a:lnTo>
                  <a:pt x="0" y="241247"/>
                </a:lnTo>
                <a:lnTo>
                  <a:pt x="0" y="0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3"/>
          <p:cNvSpPr txBox="1"/>
          <p:nvPr/>
        </p:nvSpPr>
        <p:spPr>
          <a:xfrm>
            <a:off x="1030219" y="5276073"/>
            <a:ext cx="3056255" cy="100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 extends Comparable&lt;? super E&gt;&gt; E min(E[]</a:t>
            </a:r>
            <a:r>
              <a:rPr sz="650" spc="-4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a)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403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Wildcard</a:t>
            </a:r>
            <a:r>
              <a:rPr spc="-30" dirty="0"/>
              <a:t> </a:t>
            </a:r>
            <a:r>
              <a:rPr spc="145" dirty="0"/>
              <a:t>Types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6399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16173"/>
            <a:ext cx="463613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5" dirty="0">
                <a:latin typeface="Arial"/>
                <a:cs typeface="Arial"/>
              </a:rPr>
              <a:t>A </a:t>
            </a:r>
            <a:r>
              <a:rPr sz="1550" spc="10" dirty="0">
                <a:latin typeface="Arial"/>
                <a:cs typeface="Arial"/>
              </a:rPr>
              <a:t>method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10" dirty="0">
                <a:latin typeface="Courier" charset="0"/>
                <a:cs typeface="Courier" charset="0"/>
              </a:rPr>
              <a:t>Collections</a:t>
            </a:r>
            <a:r>
              <a:rPr sz="1550" spc="-54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class which uses an  unbounded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wildcard: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8945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static void reverse(List&lt;?&gt;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list)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190930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1801632"/>
            <a:ext cx="460121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You can </a:t>
            </a:r>
            <a:r>
              <a:rPr sz="1550" spc="5" dirty="0">
                <a:latin typeface="Arial"/>
                <a:cs typeface="Arial"/>
              </a:rPr>
              <a:t>think of that </a:t>
            </a:r>
            <a:r>
              <a:rPr sz="1550" spc="10" dirty="0">
                <a:latin typeface="Arial"/>
                <a:cs typeface="Arial"/>
              </a:rPr>
              <a:t>declaration as a shorthand</a:t>
            </a:r>
            <a:r>
              <a:rPr sz="1550" spc="-2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for: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165" y="2136708"/>
            <a:ext cx="5234940" cy="20454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455"/>
              </a:spcBef>
            </a:pPr>
            <a:r>
              <a:rPr sz="950" spc="-5" dirty="0">
                <a:latin typeface="Courier" charset="0"/>
                <a:cs typeface="Courier" charset="0"/>
              </a:rPr>
              <a:t>static void &lt;T&gt; reverse(List&lt;T&gt;</a:t>
            </a:r>
            <a:r>
              <a:rPr sz="950" spc="-6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list)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3946" y="1004495"/>
            <a:ext cx="1605254" cy="1266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84266" y="1592805"/>
            <a:ext cx="3374390" cy="403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540"/>
              </a:lnSpc>
            </a:pPr>
            <a:r>
              <a:rPr sz="1300" dirty="0">
                <a:latin typeface="Arial"/>
                <a:cs typeface="Arial"/>
              </a:rPr>
              <a:t>In the </a:t>
            </a:r>
            <a:r>
              <a:rPr sz="1300" spc="5" dirty="0">
                <a:latin typeface="Arial"/>
                <a:cs typeface="Arial"/>
              </a:rPr>
              <a:t>Java </a:t>
            </a:r>
            <a:r>
              <a:rPr sz="1300" dirty="0">
                <a:latin typeface="Arial"/>
                <a:cs typeface="Arial"/>
              </a:rPr>
              <a:t>virtual </a:t>
            </a:r>
            <a:r>
              <a:rPr sz="1300" spc="5" dirty="0">
                <a:latin typeface="Arial"/>
                <a:cs typeface="Arial"/>
              </a:rPr>
              <a:t>machine, </a:t>
            </a:r>
            <a:r>
              <a:rPr sz="1300" dirty="0">
                <a:latin typeface="Arial"/>
                <a:cs typeface="Arial"/>
              </a:rPr>
              <a:t>generic </a:t>
            </a:r>
            <a:r>
              <a:rPr sz="1300" spc="5" dirty="0">
                <a:latin typeface="Arial"/>
                <a:cs typeface="Arial"/>
              </a:rPr>
              <a:t>types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are  erased.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5015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6061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571399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1384" y="799259"/>
            <a:ext cx="5344160" cy="119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5" dirty="0">
                <a:latin typeface="Arial"/>
                <a:cs typeface="Arial"/>
              </a:rPr>
              <a:t>virtual </a:t>
            </a:r>
            <a:r>
              <a:rPr sz="1550" spc="10" dirty="0">
                <a:latin typeface="Arial"/>
                <a:cs typeface="Arial"/>
              </a:rPr>
              <a:t>machine erases type parameters, replacing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them  with </a:t>
            </a:r>
            <a:r>
              <a:rPr sz="1550" spc="5" dirty="0">
                <a:latin typeface="Arial"/>
                <a:cs typeface="Arial"/>
              </a:rPr>
              <a:t>their </a:t>
            </a:r>
            <a:r>
              <a:rPr sz="1550" spc="10" dirty="0">
                <a:latin typeface="Arial"/>
                <a:cs typeface="Arial"/>
              </a:rPr>
              <a:t>bounds or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Objects.</a:t>
            </a:r>
            <a:endParaRPr sz="1550" dirty="0">
              <a:latin typeface="Courier" charset="0"/>
              <a:cs typeface="Courier" charset="0"/>
            </a:endParaRPr>
          </a:p>
          <a:p>
            <a:pPr marL="12700" marR="466725">
              <a:lnSpc>
                <a:spcPct val="117000"/>
              </a:lnSpc>
              <a:spcBef>
                <a:spcPts val="420"/>
              </a:spcBef>
            </a:pPr>
            <a:r>
              <a:rPr sz="1550" spc="10" dirty="0">
                <a:latin typeface="Arial"/>
                <a:cs typeface="Arial"/>
              </a:rPr>
              <a:t>For example, generic class </a:t>
            </a:r>
            <a:r>
              <a:rPr sz="1550" spc="10" dirty="0">
                <a:latin typeface="Courier" charset="0"/>
                <a:cs typeface="Courier" charset="0"/>
              </a:rPr>
              <a:t>Pair&lt;T, S&gt;</a:t>
            </a:r>
            <a:r>
              <a:rPr sz="1550" spc="-55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turns </a:t>
            </a:r>
            <a:r>
              <a:rPr sz="1550" spc="5" dirty="0">
                <a:latin typeface="Arial"/>
                <a:cs typeface="Arial"/>
              </a:rPr>
              <a:t>into </a:t>
            </a:r>
            <a:r>
              <a:rPr sz="1550" spc="10" dirty="0">
                <a:latin typeface="Arial"/>
                <a:cs typeface="Arial"/>
              </a:rPr>
              <a:t>the  following raw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class: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2165" y="2075263"/>
            <a:ext cx="5234940" cy="188974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2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class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Pair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207645" marR="3898900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private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 </a:t>
            </a:r>
            <a:r>
              <a:rPr sz="650" spc="5" dirty="0">
                <a:latin typeface="Courier" charset="0"/>
                <a:cs typeface="Courier" charset="0"/>
              </a:rPr>
              <a:t>first;  private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</a:t>
            </a:r>
            <a:r>
              <a:rPr sz="650" spc="-7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second;</a:t>
            </a:r>
            <a:endParaRPr sz="6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650" dirty="0">
              <a:latin typeface="Times New Roman"/>
              <a:cs typeface="Times New Roman"/>
            </a:endParaRPr>
          </a:p>
          <a:p>
            <a:pPr marL="207645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Pair(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 </a:t>
            </a:r>
            <a:r>
              <a:rPr sz="650" spc="5" dirty="0">
                <a:latin typeface="Courier" charset="0"/>
                <a:cs typeface="Courier" charset="0"/>
              </a:rPr>
              <a:t>firstElement,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</a:t>
            </a:r>
            <a:r>
              <a:rPr sz="650" spc="-5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secondElement)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 marR="3696970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first = firstElement;  second =</a:t>
            </a:r>
            <a:r>
              <a:rPr sz="650" spc="-7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secondElement;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 marR="2788920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 </a:t>
            </a:r>
            <a:r>
              <a:rPr sz="650" spc="5" dirty="0">
                <a:latin typeface="Courier" charset="0"/>
                <a:cs typeface="Courier" charset="0"/>
              </a:rPr>
              <a:t>getFirst() { return first; }  public </a:t>
            </a:r>
            <a:r>
              <a:rPr sz="650" spc="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 </a:t>
            </a:r>
            <a:r>
              <a:rPr sz="650" spc="5" dirty="0">
                <a:latin typeface="Courier" charset="0"/>
                <a:cs typeface="Courier" charset="0"/>
              </a:rPr>
              <a:t>getSecond() { return second;</a:t>
            </a:r>
            <a:r>
              <a:rPr sz="650" spc="-5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4236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2165" y="4183576"/>
            <a:ext cx="5234940" cy="1066165"/>
          </a:xfrm>
          <a:custGeom>
            <a:avLst/>
            <a:gdLst/>
            <a:ahLst/>
            <a:cxnLst/>
            <a:rect l="l" t="t" r="r" b="b"/>
            <a:pathLst>
              <a:path w="5234940" h="1066164">
                <a:moveTo>
                  <a:pt x="0" y="0"/>
                </a:moveTo>
                <a:lnTo>
                  <a:pt x="5234830" y="0"/>
                </a:lnTo>
                <a:lnTo>
                  <a:pt x="5234830" y="1065901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2165" y="4183576"/>
            <a:ext cx="0" cy="1066165"/>
          </a:xfrm>
          <a:custGeom>
            <a:avLst/>
            <a:gdLst/>
            <a:ahLst/>
            <a:cxnLst/>
            <a:rect l="l" t="t" r="r" b="b"/>
            <a:pathLst>
              <a:path h="1066164">
                <a:moveTo>
                  <a:pt x="0" y="1065901"/>
                </a:moveTo>
                <a:lnTo>
                  <a:pt x="0" y="0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6" name="object 6"/>
          <p:cNvSpPr/>
          <p:nvPr/>
        </p:nvSpPr>
        <p:spPr>
          <a:xfrm>
            <a:off x="799348" y="95528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9348" y="1276327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762810"/>
            <a:ext cx="4011929" cy="661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5900"/>
              </a:lnSpc>
            </a:pPr>
            <a:r>
              <a:rPr sz="1550" spc="15" dirty="0">
                <a:latin typeface="Arial"/>
                <a:cs typeface="Arial"/>
              </a:rPr>
              <a:t>Same </a:t>
            </a:r>
            <a:r>
              <a:rPr sz="1550" spc="10" dirty="0">
                <a:latin typeface="Arial"/>
                <a:cs typeface="Arial"/>
              </a:rPr>
              <a:t>process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applied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generic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methods.  </a:t>
            </a:r>
            <a:r>
              <a:rPr sz="1550" spc="5" dirty="0">
                <a:latin typeface="Arial"/>
                <a:cs typeface="Arial"/>
              </a:rPr>
              <a:t>In this </a:t>
            </a:r>
            <a:r>
              <a:rPr sz="1550" spc="10" dirty="0">
                <a:latin typeface="Arial"/>
                <a:cs typeface="Arial"/>
              </a:rPr>
              <a:t>generic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method: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2165" y="1508194"/>
            <a:ext cx="5234940" cy="1839467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49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 extends Measurable&gt; E min(E[]</a:t>
            </a:r>
            <a:r>
              <a:rPr sz="650" spc="-4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E smallest =</a:t>
            </a:r>
            <a:r>
              <a:rPr sz="650" spc="-7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objects[0];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for (int i = 1; i &lt; objects.length;</a:t>
            </a:r>
            <a:r>
              <a:rPr sz="650" spc="-6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i++)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E obj =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objects[i];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if (obj.getMeasure() &lt;</a:t>
            </a:r>
            <a:r>
              <a:rPr sz="650" spc="-5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smallest.getMeasure())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R="3438525" algn="ctr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smallest =</a:t>
            </a:r>
            <a:r>
              <a:rPr sz="650" spc="-85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obj;</a:t>
            </a:r>
            <a:endParaRPr sz="650" dirty="0">
              <a:latin typeface="Courier" charset="0"/>
              <a:cs typeface="Courier" charset="0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  <a:p>
            <a:pPr marL="20764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return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smallest;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9348" y="366633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61384" y="3558667"/>
            <a:ext cx="4078604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The type parameter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replaced with </a:t>
            </a:r>
            <a:r>
              <a:rPr sz="1550" spc="5" dirty="0">
                <a:latin typeface="Arial"/>
                <a:cs typeface="Arial"/>
              </a:rPr>
              <a:t>its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bound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50" spc="10" dirty="0">
                <a:latin typeface="Courier" charset="0"/>
                <a:cs typeface="Courier" charset="0"/>
              </a:rPr>
              <a:t>Measurable</a:t>
            </a:r>
            <a:r>
              <a:rPr sz="1550" spc="10" dirty="0">
                <a:latin typeface="Arial"/>
                <a:cs typeface="Arial"/>
              </a:rPr>
              <a:t>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0219" y="4241286"/>
            <a:ext cx="3709035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public static Measurable min(Measurable[]</a:t>
            </a:r>
            <a:r>
              <a:rPr sz="950" spc="-5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objects)</a:t>
            </a:r>
            <a:endParaRPr sz="950" dirty="0">
              <a:latin typeface="Courier" charset="0"/>
              <a:cs typeface="Courier" charset="0"/>
            </a:endParaRPr>
          </a:p>
          <a:p>
            <a:pPr marL="1270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2923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Measurable smallest =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objects[0];</a:t>
            </a:r>
            <a:endParaRPr sz="950" dirty="0">
              <a:latin typeface="Courier" charset="0"/>
              <a:cs typeface="Courier" charset="0"/>
            </a:endParaRPr>
          </a:p>
          <a:p>
            <a:pPr marL="22923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for (int i = 1; i &lt; objects.length;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i++)</a:t>
            </a:r>
            <a:endParaRPr sz="950" dirty="0">
              <a:latin typeface="Courier" charset="0"/>
              <a:cs typeface="Courier" charset="0"/>
            </a:endParaRPr>
          </a:p>
          <a:p>
            <a:pPr marL="22923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4577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Measurable obj =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objects[i];</a:t>
            </a:r>
            <a:endParaRPr sz="950" dirty="0">
              <a:latin typeface="Courier" charset="0"/>
              <a:cs typeface="Courier" charset="0"/>
            </a:endParaRPr>
          </a:p>
          <a:p>
            <a:pPr marL="44577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if (obj.getMeasure() &lt;</a:t>
            </a:r>
            <a:r>
              <a:rPr sz="950" spc="-5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smallest.getMeasure())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2165" y="228591"/>
            <a:ext cx="5234940" cy="923925"/>
          </a:xfrm>
          <a:custGeom>
            <a:avLst/>
            <a:gdLst/>
            <a:ahLst/>
            <a:cxnLst/>
            <a:rect l="l" t="t" r="r" b="b"/>
            <a:pathLst>
              <a:path w="5234940" h="923925">
                <a:moveTo>
                  <a:pt x="5234830" y="0"/>
                </a:moveTo>
                <a:lnTo>
                  <a:pt x="5234830" y="923375"/>
                </a:lnTo>
                <a:lnTo>
                  <a:pt x="0" y="923375"/>
                </a:lnTo>
                <a:lnTo>
                  <a:pt x="0" y="0"/>
                </a:lnTo>
              </a:path>
            </a:pathLst>
          </a:custGeom>
          <a:ln w="8917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30219" y="228704"/>
            <a:ext cx="1758950" cy="859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5770">
              <a:lnSpc>
                <a:spcPts val="109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662305">
              <a:lnSpc>
                <a:spcPts val="1090"/>
              </a:lnSpc>
            </a:pPr>
            <a:r>
              <a:rPr sz="950" spc="-5" dirty="0">
                <a:latin typeface="Courier" charset="0"/>
                <a:cs typeface="Courier" charset="0"/>
              </a:rPr>
              <a:t>smallest =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obj;</a:t>
            </a:r>
            <a:endParaRPr sz="950" dirty="0">
              <a:latin typeface="Courier" charset="0"/>
              <a:cs typeface="Courier" charset="0"/>
            </a:endParaRPr>
          </a:p>
          <a:p>
            <a:pPr marL="44577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2923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2923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return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smallest;</a:t>
            </a:r>
            <a:endParaRPr sz="950" dirty="0">
              <a:latin typeface="Courier" charset="0"/>
              <a:cs typeface="Courier" charset="0"/>
            </a:endParaRPr>
          </a:p>
          <a:p>
            <a:pPr marL="1270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3946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499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9348" y="1552494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9348" y="188245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1384" y="807166"/>
            <a:ext cx="491109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368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Knowing about type erasure helps you</a:t>
            </a:r>
            <a:r>
              <a:rPr sz="1550" spc="-6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understand  </a:t>
            </a:r>
            <a:r>
              <a:rPr sz="1550" spc="5" dirty="0">
                <a:latin typeface="Arial"/>
                <a:cs typeface="Arial"/>
              </a:rPr>
              <a:t>limitations of </a:t>
            </a:r>
            <a:r>
              <a:rPr sz="1550" spc="10" dirty="0">
                <a:latin typeface="Arial"/>
                <a:cs typeface="Arial"/>
              </a:rPr>
              <a:t>Java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generics.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spc="10" dirty="0">
                <a:latin typeface="Arial"/>
                <a:cs typeface="Arial"/>
              </a:rPr>
              <a:t>You cannot construct new objects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a generic</a:t>
            </a:r>
            <a:r>
              <a:rPr sz="1550" spc="-7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type.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7000"/>
              </a:lnSpc>
              <a:spcBef>
                <a:spcPts val="420"/>
              </a:spcBef>
            </a:pPr>
            <a:r>
              <a:rPr sz="1550" spc="10" dirty="0">
                <a:latin typeface="Arial"/>
                <a:cs typeface="Arial"/>
              </a:rPr>
              <a:t>For example, </a:t>
            </a:r>
            <a:r>
              <a:rPr sz="1550" spc="5" dirty="0">
                <a:latin typeface="Arial"/>
                <a:cs typeface="Arial"/>
              </a:rPr>
              <a:t>trying to fill </a:t>
            </a:r>
            <a:r>
              <a:rPr sz="1550" spc="10" dirty="0">
                <a:latin typeface="Arial"/>
                <a:cs typeface="Arial"/>
              </a:rPr>
              <a:t>an array with copies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default  </a:t>
            </a:r>
            <a:r>
              <a:rPr sz="1550" spc="10" dirty="0">
                <a:latin typeface="Arial"/>
                <a:cs typeface="Arial"/>
              </a:rPr>
              <a:t>objects would be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wrong: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165" y="2381862"/>
            <a:ext cx="5234940" cy="75918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&lt;E&gt; void fillWithDefaults(E[]</a:t>
            </a:r>
            <a:r>
              <a:rPr sz="950" spc="-5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 marR="2489835" indent="-217170">
              <a:lnSpc>
                <a:spcPts val="1120"/>
              </a:lnSpc>
              <a:spcBef>
                <a:spcPts val="45"/>
              </a:spcBef>
            </a:pPr>
            <a:r>
              <a:rPr sz="950" spc="-5" dirty="0">
                <a:latin typeface="Courier" charset="0"/>
                <a:cs typeface="Courier" charset="0"/>
              </a:rPr>
              <a:t>for (int i = 0; i &lt; a.length; i++)  a[i] = new E(); //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ERROR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09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9348" y="340742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1384" y="3299757"/>
            <a:ext cx="182435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Type erasure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yields: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2165" y="3630374"/>
            <a:ext cx="5234940" cy="759182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void fillWithDefaults(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</a:t>
            </a:r>
            <a:r>
              <a:rPr sz="950" spc="-5" dirty="0">
                <a:latin typeface="Courier" charset="0"/>
                <a:cs typeface="Courier" charset="0"/>
              </a:rPr>
              <a:t>[]</a:t>
            </a:r>
            <a:r>
              <a:rPr sz="950" spc="-6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 marR="2273300" indent="-217170">
              <a:lnSpc>
                <a:spcPts val="1120"/>
              </a:lnSpc>
              <a:spcBef>
                <a:spcPts val="45"/>
              </a:spcBef>
            </a:pPr>
            <a:r>
              <a:rPr sz="950" spc="-5" dirty="0">
                <a:latin typeface="Courier" charset="0"/>
                <a:cs typeface="Courier" charset="0"/>
              </a:rPr>
              <a:t>for (int i = 0; i &lt; a.length; i++)  a[i] = new </a:t>
            </a:r>
            <a:r>
              <a:rPr sz="9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Object</a:t>
            </a:r>
            <a:r>
              <a:rPr sz="950" spc="-5" dirty="0">
                <a:latin typeface="Courier" charset="0"/>
                <a:cs typeface="Courier" charset="0"/>
              </a:rPr>
              <a:t>(); // Not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useful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09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4436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548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07656"/>
            <a:ext cx="5066665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To solve </a:t>
            </a:r>
            <a:r>
              <a:rPr sz="1550" spc="5" dirty="0">
                <a:latin typeface="Arial"/>
                <a:cs typeface="Arial"/>
              </a:rPr>
              <a:t>this particular </a:t>
            </a:r>
            <a:r>
              <a:rPr sz="1550" spc="10" dirty="0">
                <a:latin typeface="Arial"/>
                <a:cs typeface="Arial"/>
              </a:rPr>
              <a:t>problem, you can supply a </a:t>
            </a:r>
            <a:r>
              <a:rPr sz="1550" spc="5" dirty="0">
                <a:latin typeface="Arial"/>
                <a:cs typeface="Arial"/>
              </a:rPr>
              <a:t>default  object: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4887"/>
            <a:ext cx="5234940" cy="742500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49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&lt;E&gt; void fillWithDefaults(E[] a, E</a:t>
            </a:r>
            <a:r>
              <a:rPr sz="650" spc="-4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defaultValue)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358775" marR="3293110" indent="-151765">
              <a:lnSpc>
                <a:spcPct val="144000"/>
              </a:lnSpc>
            </a:pPr>
            <a:r>
              <a:rPr sz="650" spc="5" dirty="0">
                <a:latin typeface="Courier" charset="0"/>
                <a:cs typeface="Courier" charset="0"/>
              </a:rPr>
              <a:t>for (int i = 0; i &lt; a.length; i++)  a[i] =</a:t>
            </a:r>
            <a:r>
              <a:rPr sz="650" spc="-8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defaultValue;</a:t>
            </a:r>
            <a:endParaRPr sz="650" dirty="0">
              <a:latin typeface="Courier" charset="0"/>
              <a:cs typeface="Courier" charset="0"/>
            </a:endParaRPr>
          </a:p>
          <a:p>
            <a:pPr marL="55880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3656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470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47033"/>
            <a:ext cx="427863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10" dirty="0">
                <a:latin typeface="Arial"/>
                <a:cs typeface="Arial"/>
              </a:rPr>
              <a:t>You cannot construct an array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a generic</a:t>
            </a:r>
            <a:r>
              <a:rPr sz="1550" spc="-8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177651"/>
            <a:ext cx="5234940" cy="1323439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Stack&lt;E&gt;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private E[]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elements;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Stack()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elements = new E[MAX_SIZE]; //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Error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2773962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9348" y="3389300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384" y="2617160"/>
            <a:ext cx="5276215" cy="920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800"/>
              </a:lnSpc>
            </a:pPr>
            <a:r>
              <a:rPr sz="1550" spc="10" dirty="0">
                <a:latin typeface="Arial"/>
                <a:cs typeface="Arial"/>
              </a:rPr>
              <a:t>Because the array construction expression </a:t>
            </a:r>
            <a:r>
              <a:rPr sz="1550" spc="10" dirty="0">
                <a:latin typeface="Courier" charset="0"/>
                <a:cs typeface="Courier" charset="0"/>
              </a:rPr>
              <a:t>new E[]</a:t>
            </a:r>
            <a:r>
              <a:rPr sz="1550" spc="-55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would  be erased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Courier" charset="0"/>
                <a:cs typeface="Courier" charset="0"/>
              </a:rPr>
              <a:t>new</a:t>
            </a:r>
            <a:r>
              <a:rPr sz="1550" spc="-45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Object[]</a:t>
            </a:r>
            <a:r>
              <a:rPr sz="1550" spc="10" dirty="0">
                <a:latin typeface="Arial"/>
                <a:cs typeface="Arial"/>
              </a:rPr>
              <a:t>.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"/>
                <a:cs typeface="Arial"/>
              </a:rPr>
              <a:t>One remedy </a:t>
            </a:r>
            <a:r>
              <a:rPr sz="1550" spc="5" dirty="0">
                <a:latin typeface="Arial"/>
                <a:cs typeface="Arial"/>
              </a:rPr>
              <a:t>is to </a:t>
            </a:r>
            <a:r>
              <a:rPr sz="1550" spc="10" dirty="0">
                <a:latin typeface="Arial"/>
                <a:cs typeface="Arial"/>
              </a:rPr>
              <a:t>use an array </a:t>
            </a:r>
            <a:r>
              <a:rPr sz="1550" spc="5" dirty="0">
                <a:latin typeface="Arial"/>
                <a:cs typeface="Arial"/>
              </a:rPr>
              <a:t>list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instead: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2165" y="3621166"/>
            <a:ext cx="5234940" cy="146450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Stack&lt;E&gt;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private ArrayList&lt;E&gt;</a:t>
            </a:r>
            <a:r>
              <a:rPr sz="950" spc="-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elements;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Stack()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elements = new ArrayList&lt;E&gt;(); //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Ok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497" y="633367"/>
            <a:ext cx="5252720" cy="71755"/>
          </a:xfrm>
          <a:custGeom>
            <a:avLst/>
            <a:gdLst/>
            <a:ahLst/>
            <a:cxnLst/>
            <a:rect l="l" t="t" r="r" b="b"/>
            <a:pathLst>
              <a:path w="5252720" h="71754">
                <a:moveTo>
                  <a:pt x="0" y="0"/>
                </a:moveTo>
                <a:lnTo>
                  <a:pt x="5252666" y="0"/>
                </a:lnTo>
                <a:lnTo>
                  <a:pt x="5252666" y="71343"/>
                </a:lnTo>
                <a:lnTo>
                  <a:pt x="0" y="71343"/>
                </a:lnTo>
                <a:lnTo>
                  <a:pt x="0" y="0"/>
                </a:lnTo>
                <a:close/>
              </a:path>
            </a:pathLst>
          </a:custGeom>
          <a:solidFill>
            <a:srgbClr val="FFDF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Type</a:t>
            </a:r>
            <a:r>
              <a:rPr spc="-25" dirty="0"/>
              <a:t> </a:t>
            </a:r>
            <a:r>
              <a:rPr spc="100" dirty="0"/>
              <a:t>Erasure</a:t>
            </a:r>
          </a:p>
        </p:txBody>
      </p:sp>
      <p:sp>
        <p:nvSpPr>
          <p:cNvPr id="4" name="object 4"/>
          <p:cNvSpPr/>
          <p:nvPr/>
        </p:nvSpPr>
        <p:spPr>
          <a:xfrm>
            <a:off x="799348" y="95441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5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384" y="806587"/>
            <a:ext cx="531114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Another </a:t>
            </a:r>
            <a:r>
              <a:rPr sz="1550" spc="5" dirty="0">
                <a:latin typeface="Arial"/>
                <a:cs typeface="Arial"/>
              </a:rPr>
              <a:t>solution is to </a:t>
            </a:r>
            <a:r>
              <a:rPr sz="1550" spc="10" dirty="0">
                <a:latin typeface="Arial"/>
                <a:cs typeface="Arial"/>
              </a:rPr>
              <a:t>use an array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objects and cast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when  reading elements from the</a:t>
            </a:r>
            <a:r>
              <a:rPr sz="1550" spc="-55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array: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2165" y="1453817"/>
            <a:ext cx="5234940" cy="2310889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class</a:t>
            </a:r>
            <a:r>
              <a:rPr sz="950" spc="-8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Stack&lt;E&gt;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 marR="3067050">
              <a:lnSpc>
                <a:spcPts val="1120"/>
              </a:lnSpc>
              <a:spcBef>
                <a:spcPts val="45"/>
              </a:spcBef>
            </a:pPr>
            <a:r>
              <a:rPr sz="950" spc="-5" dirty="0">
                <a:latin typeface="Courier" charset="0"/>
                <a:cs typeface="Courier" charset="0"/>
              </a:rPr>
              <a:t>private Object[] elements;  private int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currentSize;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080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Stack()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elements = new Object[MAX_SIZE]; //</a:t>
            </a:r>
            <a:r>
              <a:rPr sz="950" spc="-6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Ok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. .</a:t>
            </a:r>
            <a:r>
              <a:rPr sz="950" spc="-1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.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public E</a:t>
            </a:r>
            <a:r>
              <a:rPr sz="950" spc="-9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pop()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size--;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return </a:t>
            </a:r>
            <a:r>
              <a:rPr sz="950" b="1" spc="5" dirty="0">
                <a:solidFill>
                  <a:srgbClr val="FF0000"/>
                </a:solidFill>
                <a:latin typeface="Verdana"/>
                <a:cs typeface="Verdana"/>
              </a:rPr>
              <a:t>(E)</a:t>
            </a:r>
            <a:r>
              <a:rPr sz="95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elements[currentSize];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348" y="4048938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0" y="0"/>
                </a:moveTo>
                <a:lnTo>
                  <a:pt x="62425" y="0"/>
                </a:lnTo>
                <a:lnTo>
                  <a:pt x="62425" y="62425"/>
                </a:lnTo>
                <a:lnTo>
                  <a:pt x="0" y="62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384" y="3901112"/>
            <a:ext cx="5102860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7000"/>
              </a:lnSpc>
            </a:pPr>
            <a:r>
              <a:rPr sz="1550" spc="10" dirty="0">
                <a:latin typeface="Arial"/>
                <a:cs typeface="Arial"/>
              </a:rPr>
              <a:t>The cast </a:t>
            </a:r>
            <a:r>
              <a:rPr sz="1550" spc="10" dirty="0">
                <a:latin typeface="Courier" charset="0"/>
                <a:cs typeface="Courier" charset="0"/>
              </a:rPr>
              <a:t>(E) </a:t>
            </a:r>
            <a:r>
              <a:rPr sz="1550" spc="10" dirty="0">
                <a:latin typeface="Arial"/>
                <a:cs typeface="Arial"/>
              </a:rPr>
              <a:t>generates a warning because </a:t>
            </a:r>
            <a:r>
              <a:rPr sz="1550" spc="5" dirty="0">
                <a:latin typeface="Arial"/>
                <a:cs typeface="Arial"/>
              </a:rPr>
              <a:t>it </a:t>
            </a:r>
            <a:r>
              <a:rPr sz="1550" spc="10" dirty="0">
                <a:latin typeface="Arial"/>
                <a:cs typeface="Arial"/>
              </a:rPr>
              <a:t>cannot be  checked </a:t>
            </a:r>
            <a:r>
              <a:rPr sz="1550" spc="5" dirty="0">
                <a:latin typeface="Arial"/>
                <a:cs typeface="Arial"/>
              </a:rPr>
              <a:t>at </a:t>
            </a:r>
            <a:r>
              <a:rPr sz="1550" spc="10" dirty="0">
                <a:latin typeface="Arial"/>
                <a:cs typeface="Arial"/>
              </a:rPr>
              <a:t>compile</a:t>
            </a:r>
            <a:r>
              <a:rPr sz="1550" spc="-7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time.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7461"/>
            <a:ext cx="5988050" cy="979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499"/>
              </a:lnSpc>
            </a:pPr>
            <a:r>
              <a:rPr sz="1300" spc="5" dirty="0">
                <a:latin typeface="Arial"/>
                <a:cs typeface="Arial"/>
              </a:rPr>
              <a:t>Suppose we want </a:t>
            </a:r>
            <a:r>
              <a:rPr sz="1300" dirty="0">
                <a:latin typeface="Arial"/>
                <a:cs typeface="Arial"/>
              </a:rPr>
              <a:t>to eliminate the type </a:t>
            </a:r>
            <a:r>
              <a:rPr sz="1300" spc="5" dirty="0">
                <a:latin typeface="Arial"/>
                <a:cs typeface="Arial"/>
              </a:rPr>
              <a:t>bound </a:t>
            </a:r>
            <a:r>
              <a:rPr sz="1300" dirty="0">
                <a:latin typeface="Arial"/>
                <a:cs typeface="Arial"/>
              </a:rPr>
              <a:t>in the </a:t>
            </a:r>
            <a:r>
              <a:rPr sz="1300" spc="5" dirty="0">
                <a:latin typeface="Courier" charset="0"/>
                <a:cs typeface="Courier" charset="0"/>
              </a:rPr>
              <a:t>min</a:t>
            </a:r>
            <a:r>
              <a:rPr sz="1300" spc="-395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of </a:t>
            </a:r>
            <a:r>
              <a:rPr sz="1300" spc="5" dirty="0">
                <a:latin typeface="Arial"/>
                <a:cs typeface="Arial"/>
              </a:rPr>
              <a:t>Section </a:t>
            </a:r>
            <a:r>
              <a:rPr sz="1300" dirty="0">
                <a:latin typeface="Arial"/>
                <a:cs typeface="Arial"/>
              </a:rPr>
              <a:t>18.5,  </a:t>
            </a:r>
            <a:r>
              <a:rPr sz="1300" spc="5" dirty="0">
                <a:latin typeface="Arial"/>
                <a:cs typeface="Arial"/>
              </a:rPr>
              <a:t>by </a:t>
            </a:r>
            <a:r>
              <a:rPr sz="1300" dirty="0">
                <a:latin typeface="Arial"/>
                <a:cs typeface="Arial"/>
              </a:rPr>
              <a:t>declaring the </a:t>
            </a:r>
            <a:r>
              <a:rPr sz="1300" spc="5" dirty="0">
                <a:latin typeface="Arial"/>
                <a:cs typeface="Arial"/>
              </a:rPr>
              <a:t>parameter </a:t>
            </a:r>
            <a:r>
              <a:rPr sz="1300" dirty="0">
                <a:latin typeface="Arial"/>
                <a:cs typeface="Arial"/>
              </a:rPr>
              <a:t>variable </a:t>
            </a:r>
            <a:r>
              <a:rPr sz="1300" spc="5" dirty="0">
                <a:latin typeface="Arial"/>
                <a:cs typeface="Arial"/>
              </a:rPr>
              <a:t>as an </a:t>
            </a:r>
            <a:r>
              <a:rPr sz="1300" dirty="0">
                <a:latin typeface="Arial"/>
                <a:cs typeface="Arial"/>
              </a:rPr>
              <a:t>array of  </a:t>
            </a:r>
            <a:r>
              <a:rPr sz="1300" spc="5" dirty="0">
                <a:latin typeface="Courier" charset="0"/>
                <a:cs typeface="Courier" charset="0"/>
              </a:rPr>
              <a:t>Comparable&lt;E&gt;</a:t>
            </a:r>
            <a:r>
              <a:rPr sz="1300" spc="-295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objects.</a:t>
            </a:r>
          </a:p>
          <a:p>
            <a:pPr marL="12700">
              <a:lnSpc>
                <a:spcPts val="1545"/>
              </a:lnSpc>
            </a:pPr>
            <a:r>
              <a:rPr sz="1300" spc="5" dirty="0">
                <a:latin typeface="Arial"/>
                <a:cs typeface="Arial"/>
              </a:rPr>
              <a:t>Why </a:t>
            </a:r>
            <a:r>
              <a:rPr sz="1300" dirty="0">
                <a:latin typeface="Arial"/>
                <a:cs typeface="Arial"/>
              </a:rPr>
              <a:t>doesn't this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work?</a:t>
            </a:r>
            <a:endParaRPr sz="130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882369"/>
            <a:ext cx="5234940" cy="177473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49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</a:pPr>
            <a:r>
              <a:rPr sz="650" spc="5" dirty="0">
                <a:latin typeface="Courier" charset="0"/>
                <a:cs typeface="Courier" charset="0"/>
              </a:rPr>
              <a:t>public static &lt;E&gt; Comparable&lt;E&gt; min(Comparable&lt;E&gt;[]</a:t>
            </a:r>
            <a:r>
              <a:rPr sz="650" spc="-40" dirty="0">
                <a:latin typeface="Courier" charset="0"/>
                <a:cs typeface="Courier" charset="0"/>
              </a:rPr>
              <a:t> </a:t>
            </a:r>
            <a:r>
              <a:rPr sz="650" spc="5" dirty="0">
                <a:latin typeface="Courier" charset="0"/>
                <a:cs typeface="Courier" charset="0"/>
              </a:rPr>
              <a:t>objects)</a:t>
            </a:r>
            <a:endParaRPr sz="6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2229515"/>
            <a:ext cx="491172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an </a:t>
            </a:r>
            <a:r>
              <a:rPr sz="1550" spc="5" dirty="0">
                <a:latin typeface="Arial"/>
                <a:cs typeface="Arial"/>
              </a:rPr>
              <a:t>error. </a:t>
            </a:r>
            <a:r>
              <a:rPr sz="1550" spc="10" dirty="0">
                <a:latin typeface="Arial"/>
                <a:cs typeface="Arial"/>
              </a:rPr>
              <a:t>You cannot have an array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a generic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5967"/>
            <a:ext cx="4142104" cy="572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What </a:t>
            </a:r>
            <a:r>
              <a:rPr sz="1300" dirty="0">
                <a:latin typeface="Arial"/>
                <a:cs typeface="Arial"/>
              </a:rPr>
              <a:t>is the </a:t>
            </a:r>
            <a:r>
              <a:rPr sz="1300" spc="5" dirty="0">
                <a:latin typeface="Arial"/>
                <a:cs typeface="Arial"/>
              </a:rPr>
              <a:t>erasure </a:t>
            </a:r>
            <a:r>
              <a:rPr sz="1300" dirty="0">
                <a:latin typeface="Arial"/>
                <a:cs typeface="Arial"/>
              </a:rPr>
              <a:t>of the print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in </a:t>
            </a:r>
            <a:r>
              <a:rPr sz="1300" spc="5" dirty="0">
                <a:latin typeface="Arial"/>
                <a:cs typeface="Arial"/>
              </a:rPr>
              <a:t>Section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18.3?</a:t>
            </a:r>
            <a:endParaRPr sz="130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165" y="1472633"/>
            <a:ext cx="5234940" cy="1182375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55880">
              <a:lnSpc>
                <a:spcPts val="1130"/>
              </a:lnSpc>
              <a:spcBef>
                <a:spcPts val="420"/>
              </a:spcBef>
            </a:pPr>
            <a:r>
              <a:rPr sz="950" spc="-5" dirty="0">
                <a:latin typeface="Courier" charset="0"/>
                <a:cs typeface="Courier" charset="0"/>
              </a:rPr>
              <a:t>public static void print(Object[]</a:t>
            </a:r>
            <a:r>
              <a:rPr sz="950" spc="-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for (Object e :</a:t>
            </a:r>
            <a:r>
              <a:rPr sz="950" spc="-9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a)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{</a:t>
            </a:r>
            <a:endParaRPr sz="950" dirty="0">
              <a:latin typeface="Courier" charset="0"/>
              <a:cs typeface="Courier" charset="0"/>
            </a:endParaRPr>
          </a:p>
          <a:p>
            <a:pPr marL="489584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System.out.print(e + "</a:t>
            </a:r>
            <a:r>
              <a:rPr sz="950" spc="-8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");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  <a:p>
            <a:pPr marL="272415">
              <a:lnSpc>
                <a:spcPts val="1125"/>
              </a:lnSpc>
            </a:pPr>
            <a:r>
              <a:rPr sz="950" spc="-5" dirty="0">
                <a:latin typeface="Courier" charset="0"/>
                <a:cs typeface="Courier" charset="0"/>
              </a:rPr>
              <a:t>System.out.println();</a:t>
            </a:r>
            <a:endParaRPr sz="950" dirty="0">
              <a:latin typeface="Courier" charset="0"/>
              <a:cs typeface="Courier" charset="0"/>
            </a:endParaRPr>
          </a:p>
          <a:p>
            <a:pPr marL="55880">
              <a:lnSpc>
                <a:spcPts val="1130"/>
              </a:lnSpc>
            </a:pPr>
            <a:r>
              <a:rPr sz="950" spc="-5" dirty="0">
                <a:latin typeface="Courier" charset="0"/>
                <a:cs typeface="Courier" charset="0"/>
              </a:rPr>
              <a:t>}</a:t>
            </a:r>
            <a:endParaRPr sz="9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4105"/>
            <a:ext cx="4060190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Could </a:t>
            </a:r>
            <a:r>
              <a:rPr sz="1300" dirty="0">
                <a:latin typeface="Arial"/>
                <a:cs typeface="Arial"/>
              </a:rPr>
              <a:t>the </a:t>
            </a:r>
            <a:r>
              <a:rPr sz="1300" spc="5" dirty="0">
                <a:latin typeface="Courier" charset="0"/>
                <a:cs typeface="Courier" charset="0"/>
              </a:rPr>
              <a:t>Stack</a:t>
            </a:r>
            <a:r>
              <a:rPr sz="1300" spc="-484" dirty="0">
                <a:latin typeface="Courier" charset="0"/>
                <a:cs typeface="Courier" charset="0"/>
              </a:rPr>
              <a:t> </a:t>
            </a:r>
            <a:r>
              <a:rPr sz="1300" spc="5" dirty="0">
                <a:latin typeface="Arial"/>
                <a:cs typeface="Arial"/>
              </a:rPr>
              <a:t>example be implemented as </a:t>
            </a:r>
            <a:r>
              <a:rPr sz="1300" dirty="0">
                <a:latin typeface="Arial"/>
                <a:cs typeface="Arial"/>
              </a:rPr>
              <a:t>follows?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7053" y="1097300"/>
            <a:ext cx="5761355" cy="1206099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05"/>
              </a:spcBef>
            </a:pPr>
            <a:r>
              <a:rPr sz="750" spc="20" dirty="0">
                <a:latin typeface="Courier" charset="0"/>
                <a:cs typeface="Courier" charset="0"/>
              </a:rPr>
              <a:t>public class</a:t>
            </a:r>
            <a:r>
              <a:rPr sz="750" spc="-4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Stack&lt;E&gt;</a:t>
            </a:r>
            <a:endParaRPr sz="750" dirty="0">
              <a:latin typeface="Courier" charset="0"/>
              <a:cs typeface="Courier" charset="0"/>
            </a:endParaRPr>
          </a:p>
          <a:p>
            <a:pPr marL="5143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private E[]</a:t>
            </a:r>
            <a:r>
              <a:rPr sz="750" spc="-4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elements;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. .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public</a:t>
            </a:r>
            <a:r>
              <a:rPr sz="750" spc="-5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Stack()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41211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elements = (E[]) new</a:t>
            </a:r>
            <a:r>
              <a:rPr sz="750" spc="-1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Object[MAX_SIZE];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3177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. .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51435">
              <a:lnSpc>
                <a:spcPct val="100000"/>
              </a:lnSpc>
              <a:spcBef>
                <a:spcPts val="10"/>
              </a:spcBef>
            </a:pPr>
            <a:r>
              <a:rPr sz="750" spc="20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384" y="2432629"/>
            <a:ext cx="5229860" cy="114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600"/>
              </a:lnSpc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This code compiles </a:t>
            </a:r>
            <a:r>
              <a:rPr sz="1550" spc="5" dirty="0">
                <a:latin typeface="Arial"/>
                <a:cs typeface="Arial"/>
              </a:rPr>
              <a:t>(with </a:t>
            </a:r>
            <a:r>
              <a:rPr sz="1550" spc="10" dirty="0">
                <a:latin typeface="Arial"/>
                <a:cs typeface="Arial"/>
              </a:rPr>
              <a:t>a warning), but </a:t>
            </a:r>
            <a:r>
              <a:rPr sz="1550" spc="5" dirty="0">
                <a:latin typeface="Arial"/>
                <a:cs typeface="Arial"/>
              </a:rPr>
              <a:t>it is </a:t>
            </a:r>
            <a:r>
              <a:rPr sz="1550" spc="10" dirty="0">
                <a:latin typeface="Arial"/>
                <a:cs typeface="Arial"/>
              </a:rPr>
              <a:t>a  poor technique.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the </a:t>
            </a:r>
            <a:r>
              <a:rPr sz="1550" spc="5" dirty="0">
                <a:latin typeface="Arial"/>
                <a:cs typeface="Arial"/>
              </a:rPr>
              <a:t>future, if </a:t>
            </a:r>
            <a:r>
              <a:rPr sz="1550" spc="10" dirty="0">
                <a:latin typeface="Arial"/>
                <a:cs typeface="Arial"/>
              </a:rPr>
              <a:t>type erasure no longer  happens, the code </a:t>
            </a:r>
            <a:r>
              <a:rPr sz="1550" spc="5" dirty="0">
                <a:latin typeface="Arial"/>
                <a:cs typeface="Arial"/>
              </a:rPr>
              <a:t>will </a:t>
            </a:r>
            <a:r>
              <a:rPr sz="1550" spc="10" dirty="0">
                <a:latin typeface="Arial"/>
                <a:cs typeface="Arial"/>
              </a:rPr>
              <a:t>be </a:t>
            </a:r>
            <a:r>
              <a:rPr sz="1550" i="1" spc="10" dirty="0">
                <a:latin typeface="Arial"/>
                <a:cs typeface="Arial"/>
              </a:rPr>
              <a:t>wrong</a:t>
            </a:r>
            <a:r>
              <a:rPr sz="1550" spc="10" dirty="0">
                <a:latin typeface="Arial"/>
                <a:cs typeface="Arial"/>
              </a:rPr>
              <a:t>. The cast from</a:t>
            </a:r>
            <a:r>
              <a:rPr sz="1550" spc="-40" dirty="0">
                <a:latin typeface="Arial"/>
                <a:cs typeface="Arial"/>
              </a:rPr>
              <a:t> </a:t>
            </a:r>
            <a:r>
              <a:rPr sz="1550" spc="10" dirty="0">
                <a:latin typeface="Courier" charset="0"/>
                <a:cs typeface="Courier" charset="0"/>
              </a:rPr>
              <a:t>Object[] 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Courier" charset="0"/>
                <a:cs typeface="Courier" charset="0"/>
              </a:rPr>
              <a:t>String[]</a:t>
            </a:r>
            <a:r>
              <a:rPr sz="1550" spc="-55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will </a:t>
            </a:r>
            <a:r>
              <a:rPr sz="1550" spc="10" dirty="0">
                <a:latin typeface="Arial"/>
                <a:cs typeface="Arial"/>
              </a:rPr>
              <a:t>cause a class cast exception.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4595"/>
            <a:ext cx="3195955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The  </a:t>
            </a:r>
            <a:r>
              <a:rPr sz="1300" spc="5" dirty="0">
                <a:latin typeface="Courier" charset="0"/>
                <a:cs typeface="Courier" charset="0"/>
              </a:rPr>
              <a:t>ArrayList&lt;E&gt; </a:t>
            </a:r>
            <a:r>
              <a:rPr sz="1300" dirty="0">
                <a:latin typeface="Arial"/>
                <a:cs typeface="Arial"/>
              </a:rPr>
              <a:t>class </a:t>
            </a:r>
            <a:r>
              <a:rPr sz="1300" spc="5" dirty="0">
                <a:latin typeface="Arial"/>
                <a:cs typeface="Arial"/>
              </a:rPr>
              <a:t>has a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method: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097790"/>
            <a:ext cx="5761355" cy="16735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05"/>
              </a:spcBef>
            </a:pPr>
            <a:r>
              <a:rPr sz="750" spc="20" dirty="0">
                <a:latin typeface="Courier" charset="0"/>
                <a:cs typeface="Courier" charset="0"/>
              </a:rPr>
              <a:t>Object[]</a:t>
            </a:r>
            <a:r>
              <a:rPr sz="750" spc="-5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toArray()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797" y="1369672"/>
            <a:ext cx="5673725" cy="1151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Why </a:t>
            </a:r>
            <a:r>
              <a:rPr sz="1300" dirty="0">
                <a:latin typeface="Arial"/>
                <a:cs typeface="Arial"/>
              </a:rPr>
              <a:t>doesn't the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return </a:t>
            </a:r>
            <a:r>
              <a:rPr sz="1300" spc="5" dirty="0">
                <a:latin typeface="Arial"/>
                <a:cs typeface="Arial"/>
              </a:rPr>
              <a:t>an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Courier" charset="0"/>
                <a:cs typeface="Courier" charset="0"/>
              </a:rPr>
              <a:t>E[]</a:t>
            </a:r>
            <a:r>
              <a:rPr sz="1300" dirty="0">
                <a:latin typeface="Arial"/>
                <a:cs typeface="Arial"/>
              </a:rPr>
              <a:t>?</a:t>
            </a:r>
          </a:p>
          <a:p>
            <a:pPr marL="311785" marR="5080">
              <a:lnSpc>
                <a:spcPct val="120800"/>
              </a:lnSpc>
              <a:spcBef>
                <a:spcPts val="61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5" dirty="0">
                <a:latin typeface="Arial"/>
                <a:cs typeface="Arial"/>
              </a:rPr>
              <a:t>Internally, </a:t>
            </a:r>
            <a:r>
              <a:rPr sz="1550" spc="10" dirty="0">
                <a:latin typeface="Courier" charset="0"/>
                <a:cs typeface="Courier" charset="0"/>
              </a:rPr>
              <a:t>ArrayList </a:t>
            </a:r>
            <a:r>
              <a:rPr sz="1550" spc="10" dirty="0">
                <a:latin typeface="Arial"/>
                <a:cs typeface="Arial"/>
              </a:rPr>
              <a:t>uses an </a:t>
            </a:r>
            <a:r>
              <a:rPr sz="1550" spc="10" dirty="0">
                <a:latin typeface="Courier" charset="0"/>
                <a:cs typeface="Courier" charset="0"/>
              </a:rPr>
              <a:t>Object[] </a:t>
            </a:r>
            <a:r>
              <a:rPr sz="1550" spc="5" dirty="0">
                <a:latin typeface="Arial"/>
                <a:cs typeface="Arial"/>
              </a:rPr>
              <a:t>array.  </a:t>
            </a:r>
            <a:r>
              <a:rPr sz="1550" spc="10" dirty="0">
                <a:latin typeface="Arial"/>
                <a:cs typeface="Arial"/>
              </a:rPr>
              <a:t>Because </a:t>
            </a:r>
            <a:r>
              <a:rPr sz="1550" spc="5" dirty="0">
                <a:latin typeface="Arial"/>
                <a:cs typeface="Arial"/>
              </a:rPr>
              <a:t>of </a:t>
            </a:r>
            <a:r>
              <a:rPr sz="1550" spc="10" dirty="0">
                <a:latin typeface="Arial"/>
                <a:cs typeface="Arial"/>
              </a:rPr>
              <a:t>type erasure, </a:t>
            </a:r>
            <a:r>
              <a:rPr sz="1550" spc="5" dirty="0">
                <a:latin typeface="Arial"/>
                <a:cs typeface="Arial"/>
              </a:rPr>
              <a:t>it can’t </a:t>
            </a:r>
            <a:r>
              <a:rPr sz="1550" spc="10" dirty="0">
                <a:latin typeface="Arial"/>
                <a:cs typeface="Arial"/>
              </a:rPr>
              <a:t>make an </a:t>
            </a:r>
            <a:r>
              <a:rPr sz="1550" spc="10" dirty="0">
                <a:latin typeface="Courier" charset="0"/>
                <a:cs typeface="Courier" charset="0"/>
              </a:rPr>
              <a:t>E[] </a:t>
            </a:r>
            <a:r>
              <a:rPr sz="1550" spc="5" dirty="0">
                <a:latin typeface="Arial"/>
                <a:cs typeface="Arial"/>
              </a:rPr>
              <a:t>array. </a:t>
            </a:r>
            <a:r>
              <a:rPr sz="1550" spc="10" dirty="0">
                <a:latin typeface="Arial"/>
                <a:cs typeface="Arial"/>
              </a:rPr>
              <a:t>The  best </a:t>
            </a:r>
            <a:r>
              <a:rPr sz="1550" spc="5" dirty="0">
                <a:latin typeface="Arial"/>
                <a:cs typeface="Arial"/>
              </a:rPr>
              <a:t>it </a:t>
            </a:r>
            <a:r>
              <a:rPr sz="1550" spc="10" dirty="0">
                <a:latin typeface="Arial"/>
                <a:cs typeface="Arial"/>
              </a:rPr>
              <a:t>can do </a:t>
            </a:r>
            <a:r>
              <a:rPr sz="1550" spc="5" dirty="0">
                <a:latin typeface="Arial"/>
                <a:cs typeface="Arial"/>
              </a:rPr>
              <a:t>is </a:t>
            </a:r>
            <a:r>
              <a:rPr sz="1550" spc="10" dirty="0">
                <a:latin typeface="Arial"/>
                <a:cs typeface="Arial"/>
              </a:rPr>
              <a:t>make a copy </a:t>
            </a:r>
            <a:r>
              <a:rPr sz="1550" spc="5" dirty="0">
                <a:latin typeface="Arial"/>
                <a:cs typeface="Arial"/>
              </a:rPr>
              <a:t>of its internal </a:t>
            </a:r>
            <a:r>
              <a:rPr sz="1550" spc="10" dirty="0">
                <a:latin typeface="Courier" charset="0"/>
                <a:cs typeface="Courier" charset="0"/>
              </a:rPr>
              <a:t>Object[]</a:t>
            </a:r>
            <a:r>
              <a:rPr sz="1550" spc="-470" dirty="0">
                <a:latin typeface="Courier" charset="0"/>
                <a:cs typeface="Courier" charset="0"/>
              </a:rPr>
              <a:t> </a:t>
            </a:r>
            <a:r>
              <a:rPr sz="1550" spc="5" dirty="0">
                <a:latin typeface="Arial"/>
                <a:cs typeface="Arial"/>
              </a:rPr>
              <a:t>array.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33815"/>
            <a:ext cx="3724910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The  </a:t>
            </a:r>
            <a:r>
              <a:rPr sz="1300" spc="5" dirty="0">
                <a:latin typeface="Courier" charset="0"/>
                <a:cs typeface="Courier" charset="0"/>
              </a:rPr>
              <a:t>ArrayList&lt;E&gt;</a:t>
            </a:r>
            <a:r>
              <a:rPr sz="1300" spc="-434" dirty="0">
                <a:latin typeface="Courier" charset="0"/>
                <a:cs typeface="Courier" charset="0"/>
              </a:rPr>
              <a:t> </a:t>
            </a:r>
            <a:r>
              <a:rPr sz="1300" dirty="0">
                <a:latin typeface="Arial"/>
                <a:cs typeface="Arial"/>
              </a:rPr>
              <a:t>class </a:t>
            </a:r>
            <a:r>
              <a:rPr sz="1300" spc="5" dirty="0">
                <a:latin typeface="Arial"/>
                <a:cs typeface="Arial"/>
              </a:rPr>
              <a:t>has a second method: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097011"/>
            <a:ext cx="5761355" cy="16735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05"/>
              </a:spcBef>
            </a:pPr>
            <a:r>
              <a:rPr sz="750" spc="20" dirty="0">
                <a:latin typeface="Courier" charset="0"/>
                <a:cs typeface="Courier" charset="0"/>
              </a:rPr>
              <a:t>E[] toArray(E[]</a:t>
            </a:r>
            <a:r>
              <a:rPr sz="750" spc="-50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a)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797" y="1368892"/>
            <a:ext cx="5716905" cy="1142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785" indent="-29972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Why can </a:t>
            </a:r>
            <a:r>
              <a:rPr sz="1300" dirty="0">
                <a:latin typeface="Arial"/>
                <a:cs typeface="Arial"/>
              </a:rPr>
              <a:t>this </a:t>
            </a:r>
            <a:r>
              <a:rPr sz="1300" spc="5" dirty="0">
                <a:latin typeface="Arial"/>
                <a:cs typeface="Arial"/>
              </a:rPr>
              <a:t>method </a:t>
            </a:r>
            <a:r>
              <a:rPr sz="1300" dirty="0">
                <a:latin typeface="Arial"/>
                <a:cs typeface="Arial"/>
              </a:rPr>
              <a:t>return </a:t>
            </a:r>
            <a:r>
              <a:rPr sz="1300" spc="5" dirty="0">
                <a:latin typeface="Arial"/>
                <a:cs typeface="Arial"/>
              </a:rPr>
              <a:t>an </a:t>
            </a:r>
            <a:r>
              <a:rPr sz="1300" dirty="0">
                <a:latin typeface="Arial"/>
                <a:cs typeface="Arial"/>
              </a:rPr>
              <a:t>array of type  </a:t>
            </a:r>
            <a:r>
              <a:rPr sz="1300" dirty="0">
                <a:latin typeface="Courier" charset="0"/>
                <a:cs typeface="Courier" charset="0"/>
              </a:rPr>
              <a:t>E[]</a:t>
            </a:r>
            <a:r>
              <a:rPr sz="1300" dirty="0">
                <a:latin typeface="Arial"/>
                <a:cs typeface="Arial"/>
              </a:rPr>
              <a:t>? (</a:t>
            </a:r>
            <a:r>
              <a:rPr sz="1300" i="1" dirty="0">
                <a:latin typeface="Arial"/>
                <a:cs typeface="Arial"/>
              </a:rPr>
              <a:t>Hint: </a:t>
            </a:r>
            <a:r>
              <a:rPr sz="1300" dirty="0">
                <a:latin typeface="Arial"/>
                <a:cs typeface="Arial"/>
              </a:rPr>
              <a:t>Special </a:t>
            </a:r>
            <a:r>
              <a:rPr sz="1300" spc="5" dirty="0">
                <a:latin typeface="Arial"/>
                <a:cs typeface="Arial"/>
              </a:rPr>
              <a:t>Topic</a:t>
            </a:r>
            <a:r>
              <a:rPr sz="1300" spc="1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18.2.)</a:t>
            </a:r>
          </a:p>
          <a:p>
            <a:pPr marL="311785" marR="45085">
              <a:lnSpc>
                <a:spcPct val="120800"/>
              </a:lnSpc>
              <a:spcBef>
                <a:spcPts val="540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5" dirty="0">
                <a:latin typeface="Arial"/>
                <a:cs typeface="Arial"/>
              </a:rPr>
              <a:t>It </a:t>
            </a:r>
            <a:r>
              <a:rPr sz="1550" spc="10" dirty="0">
                <a:latin typeface="Arial"/>
                <a:cs typeface="Arial"/>
              </a:rPr>
              <a:t>can use </a:t>
            </a:r>
            <a:r>
              <a:rPr sz="1550" spc="5" dirty="0">
                <a:latin typeface="Arial"/>
                <a:cs typeface="Arial"/>
              </a:rPr>
              <a:t>reflection to </a:t>
            </a:r>
            <a:r>
              <a:rPr sz="1550" spc="10" dirty="0">
                <a:latin typeface="Arial"/>
                <a:cs typeface="Arial"/>
              </a:rPr>
              <a:t>discover the element type </a:t>
            </a:r>
            <a:r>
              <a:rPr sz="1550" spc="5" dirty="0">
                <a:latin typeface="Arial"/>
                <a:cs typeface="Arial"/>
              </a:rPr>
              <a:t>of  </a:t>
            </a:r>
            <a:r>
              <a:rPr sz="1550" spc="10" dirty="0">
                <a:latin typeface="Arial"/>
                <a:cs typeface="Arial"/>
              </a:rPr>
              <a:t>the parameter </a:t>
            </a:r>
            <a:r>
              <a:rPr sz="1550" spc="5" dirty="0">
                <a:latin typeface="Courier" charset="0"/>
                <a:cs typeface="Courier" charset="0"/>
              </a:rPr>
              <a:t>a</a:t>
            </a:r>
            <a:r>
              <a:rPr sz="1550" spc="5" dirty="0">
                <a:latin typeface="Arial"/>
                <a:cs typeface="Arial"/>
              </a:rPr>
              <a:t>, </a:t>
            </a:r>
            <a:r>
              <a:rPr sz="1550" spc="10" dirty="0">
                <a:latin typeface="Arial"/>
                <a:cs typeface="Arial"/>
              </a:rPr>
              <a:t>and then construct another array with </a:t>
            </a:r>
            <a:r>
              <a:rPr sz="1550" spc="5" dirty="0">
                <a:latin typeface="Arial"/>
                <a:cs typeface="Arial"/>
              </a:rPr>
              <a:t>that  </a:t>
            </a:r>
            <a:r>
              <a:rPr sz="1550" spc="10" dirty="0">
                <a:latin typeface="Arial"/>
                <a:cs typeface="Arial"/>
              </a:rPr>
              <a:t>element type </a:t>
            </a:r>
            <a:r>
              <a:rPr sz="1550" spc="5" dirty="0">
                <a:latin typeface="Arial"/>
                <a:cs typeface="Arial"/>
              </a:rPr>
              <a:t>(or just call </a:t>
            </a:r>
            <a:r>
              <a:rPr sz="1550" spc="10" dirty="0">
                <a:latin typeface="Arial"/>
                <a:cs typeface="Arial"/>
              </a:rPr>
              <a:t>the  </a:t>
            </a:r>
            <a:r>
              <a:rPr sz="1550" spc="10" dirty="0">
                <a:latin typeface="Courier" charset="0"/>
                <a:cs typeface="Courier" charset="0"/>
              </a:rPr>
              <a:t>Arrays.copyOf</a:t>
            </a:r>
            <a:r>
              <a:rPr sz="1550" spc="-430" dirty="0">
                <a:latin typeface="Courier" charset="0"/>
                <a:cs typeface="Courier" charset="0"/>
              </a:rPr>
              <a:t> </a:t>
            </a:r>
            <a:r>
              <a:rPr sz="1550" spc="10" dirty="0">
                <a:latin typeface="Arial"/>
                <a:cs typeface="Arial"/>
              </a:rPr>
              <a:t>method).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Self </a:t>
            </a:r>
            <a:r>
              <a:rPr spc="114" dirty="0"/>
              <a:t>Check</a:t>
            </a:r>
            <a:r>
              <a:rPr spc="-95" dirty="0"/>
              <a:t> </a:t>
            </a:r>
            <a:r>
              <a:rPr spc="35" dirty="0"/>
              <a:t>18.27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97" y="825388"/>
            <a:ext cx="1630045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Why </a:t>
            </a:r>
            <a:r>
              <a:rPr sz="1300" dirty="0">
                <a:latin typeface="Arial"/>
                <a:cs typeface="Arial"/>
              </a:rPr>
              <a:t>can't the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5" dirty="0">
                <a:latin typeface="Arial"/>
                <a:cs typeface="Arial"/>
              </a:rPr>
              <a:t>method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053" y="1088583"/>
            <a:ext cx="5761355" cy="167354"/>
          </a:xfrm>
          <a:prstGeom prst="rect">
            <a:avLst/>
          </a:prstGeom>
          <a:ln w="8917">
            <a:solidFill>
              <a:srgbClr val="CCCCCC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05"/>
              </a:spcBef>
            </a:pPr>
            <a:r>
              <a:rPr sz="750" spc="20" dirty="0">
                <a:latin typeface="Courier" charset="0"/>
                <a:cs typeface="Courier" charset="0"/>
              </a:rPr>
              <a:t>static &lt;T&gt; T[] copyOf(T[] original, int</a:t>
            </a:r>
            <a:r>
              <a:rPr sz="750" spc="5" dirty="0">
                <a:latin typeface="Courier" charset="0"/>
                <a:cs typeface="Courier" charset="0"/>
              </a:rPr>
              <a:t> </a:t>
            </a:r>
            <a:r>
              <a:rPr sz="750" spc="20" dirty="0">
                <a:latin typeface="Courier" charset="0"/>
                <a:cs typeface="Courier" charset="0"/>
              </a:rPr>
              <a:t>newLength)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797" y="1351546"/>
            <a:ext cx="5676900" cy="857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5" dirty="0">
                <a:latin typeface="Arial"/>
                <a:cs typeface="Arial"/>
              </a:rPr>
              <a:t>be implemented </a:t>
            </a:r>
            <a:r>
              <a:rPr sz="1300" dirty="0">
                <a:latin typeface="Arial"/>
                <a:cs typeface="Arial"/>
              </a:rPr>
              <a:t>without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reflection?</a:t>
            </a:r>
          </a:p>
          <a:p>
            <a:pPr marL="311785">
              <a:lnSpc>
                <a:spcPct val="100000"/>
              </a:lnSpc>
              <a:spcBef>
                <a:spcPts val="925"/>
              </a:spcBef>
            </a:pPr>
            <a:r>
              <a:rPr sz="1550" b="1" spc="10" dirty="0">
                <a:latin typeface="Arial"/>
                <a:cs typeface="Arial"/>
              </a:rPr>
              <a:t>Answer: </a:t>
            </a:r>
            <a:r>
              <a:rPr sz="1550" spc="10" dirty="0">
                <a:latin typeface="Arial"/>
                <a:cs typeface="Arial"/>
              </a:rPr>
              <a:t>The method needs </a:t>
            </a:r>
            <a:r>
              <a:rPr sz="1550" spc="5" dirty="0">
                <a:latin typeface="Arial"/>
                <a:cs typeface="Arial"/>
              </a:rPr>
              <a:t>to </a:t>
            </a:r>
            <a:r>
              <a:rPr sz="1550" spc="10" dirty="0">
                <a:latin typeface="Arial"/>
                <a:cs typeface="Arial"/>
              </a:rPr>
              <a:t>construct a new array </a:t>
            </a:r>
            <a:r>
              <a:rPr sz="1550" spc="5" dirty="0">
                <a:latin typeface="Arial"/>
                <a:cs typeface="Arial"/>
              </a:rPr>
              <a:t>of</a:t>
            </a:r>
            <a:r>
              <a:rPr sz="1550" spc="-35" dirty="0">
                <a:latin typeface="Arial"/>
                <a:cs typeface="Arial"/>
              </a:rPr>
              <a:t> </a:t>
            </a:r>
            <a:r>
              <a:rPr sz="1550" spc="10" dirty="0">
                <a:latin typeface="Arial"/>
                <a:cs typeface="Arial"/>
              </a:rPr>
              <a:t>type</a:t>
            </a:r>
            <a:endParaRPr sz="1550" dirty="0">
              <a:latin typeface="Arial"/>
              <a:cs typeface="Arial"/>
            </a:endParaRPr>
          </a:p>
          <a:p>
            <a:pPr marL="311785">
              <a:lnSpc>
                <a:spcPct val="100000"/>
              </a:lnSpc>
              <a:spcBef>
                <a:spcPts val="385"/>
              </a:spcBef>
            </a:pPr>
            <a:r>
              <a:rPr sz="1550" spc="5" dirty="0">
                <a:latin typeface="Courier" charset="0"/>
                <a:cs typeface="Courier" charset="0"/>
              </a:rPr>
              <a:t>T</a:t>
            </a:r>
            <a:r>
              <a:rPr sz="1550" spc="5" dirty="0">
                <a:latin typeface="Arial"/>
                <a:cs typeface="Arial"/>
              </a:rPr>
              <a:t>. </a:t>
            </a:r>
            <a:r>
              <a:rPr sz="1550" spc="10" dirty="0">
                <a:latin typeface="Arial"/>
                <a:cs typeface="Arial"/>
              </a:rPr>
              <a:t>However, </a:t>
            </a:r>
            <a:r>
              <a:rPr sz="1550" spc="5" dirty="0">
                <a:latin typeface="Arial"/>
                <a:cs typeface="Arial"/>
              </a:rPr>
              <a:t>that is </a:t>
            </a:r>
            <a:r>
              <a:rPr sz="1550" spc="10" dirty="0">
                <a:latin typeface="Arial"/>
                <a:cs typeface="Arial"/>
              </a:rPr>
              <a:t>not possible </a:t>
            </a:r>
            <a:r>
              <a:rPr sz="1550" spc="5" dirty="0">
                <a:latin typeface="Arial"/>
                <a:cs typeface="Arial"/>
              </a:rPr>
              <a:t>in </a:t>
            </a:r>
            <a:r>
              <a:rPr sz="1550" spc="10" dirty="0">
                <a:latin typeface="Arial"/>
                <a:cs typeface="Arial"/>
              </a:rPr>
              <a:t>Java without</a:t>
            </a:r>
            <a:r>
              <a:rPr sz="1550" dirty="0">
                <a:latin typeface="Arial"/>
                <a:cs typeface="Arial"/>
              </a:rPr>
              <a:t> </a:t>
            </a:r>
            <a:r>
              <a:rPr sz="1550" spc="5" dirty="0">
                <a:latin typeface="Arial"/>
                <a:cs typeface="Arial"/>
              </a:rPr>
              <a:t>reflection.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4209</Words>
  <Application>Microsoft Office PowerPoint</Application>
  <PresentationFormat>Custom</PresentationFormat>
  <Paragraphs>553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Arial</vt:lpstr>
      <vt:lpstr>Calibri</vt:lpstr>
      <vt:lpstr>Courier</vt:lpstr>
      <vt:lpstr>Courier New</vt:lpstr>
      <vt:lpstr>Times New Roman</vt:lpstr>
      <vt:lpstr>Trebuchet MS</vt:lpstr>
      <vt:lpstr>Verdana</vt:lpstr>
      <vt:lpstr>Office Theme</vt:lpstr>
      <vt:lpstr>Chapter 18 – Generic Classes</vt:lpstr>
      <vt:lpstr>Chapter Goals</vt:lpstr>
      <vt:lpstr>Generic Classes and Type  Parameters</vt:lpstr>
      <vt:lpstr>Type Parameter</vt:lpstr>
      <vt:lpstr>Type Parameters</vt:lpstr>
      <vt:lpstr>Type Parameters Increase Safety</vt:lpstr>
      <vt:lpstr>Self Check 18.1</vt:lpstr>
      <vt:lpstr>Self Check 18.2</vt:lpstr>
      <vt:lpstr>Self Check 18.3</vt:lpstr>
      <vt:lpstr>Self Check 18.4</vt:lpstr>
      <vt:lpstr>Self Check 18.5</vt:lpstr>
      <vt:lpstr>Implementing Generic Classes</vt:lpstr>
      <vt:lpstr>Implementing Generic Types</vt:lpstr>
      <vt:lpstr>PowerPoint Presentation</vt:lpstr>
      <vt:lpstr>Class Pair</vt:lpstr>
      <vt:lpstr>Syntax 18.1 Declaring a Generic  Class</vt:lpstr>
      <vt:lpstr>section_2/Pair.java</vt:lpstr>
      <vt:lpstr>section_2/PairDemo.java</vt:lpstr>
      <vt:lpstr>Self Check 18.6</vt:lpstr>
      <vt:lpstr>Self Check 18.7</vt:lpstr>
      <vt:lpstr>Self Check 18.8</vt:lpstr>
      <vt:lpstr>Self Check 18.9</vt:lpstr>
      <vt:lpstr>Self Check 18.10</vt:lpstr>
      <vt:lpstr>Generic Methods</vt:lpstr>
      <vt:lpstr>Generic Methods</vt:lpstr>
      <vt:lpstr>Generic Methods</vt:lpstr>
      <vt:lpstr>Generic Methods</vt:lpstr>
      <vt:lpstr>Syntax 18.2 Declaring a Generic  Method</vt:lpstr>
      <vt:lpstr>Self Check 18.11</vt:lpstr>
      <vt:lpstr>Self Check 18.12</vt:lpstr>
      <vt:lpstr>Self Check 18.13</vt:lpstr>
      <vt:lpstr>Self Check 18.14</vt:lpstr>
      <vt:lpstr>Self Check 18.15</vt:lpstr>
      <vt:lpstr>Constraining Type Variables</vt:lpstr>
      <vt:lpstr>Constraining Type Variables</vt:lpstr>
      <vt:lpstr>Constraining Type Variables</vt:lpstr>
      <vt:lpstr>Constraining Type Variables -  Comparable Interface</vt:lpstr>
      <vt:lpstr>Constraining Type Variables -  Comparable Interface</vt:lpstr>
      <vt:lpstr>Constraining Type Variables</vt:lpstr>
      <vt:lpstr>Self Check 18.16</vt:lpstr>
      <vt:lpstr>Self Check 18.17</vt:lpstr>
      <vt:lpstr>Self Check 18.18</vt:lpstr>
      <vt:lpstr>Self Check 18.19</vt:lpstr>
      <vt:lpstr>Self Check 18.20</vt:lpstr>
      <vt:lpstr>Self Check 18.21</vt:lpstr>
      <vt:lpstr>Genericity and Inheritance</vt:lpstr>
      <vt:lpstr>Wildcard Types</vt:lpstr>
      <vt:lpstr>Wildcard Types</vt:lpstr>
      <vt:lpstr>Wildcard Types</vt:lpstr>
      <vt:lpstr>Type Erasure</vt:lpstr>
      <vt:lpstr>Type Erasure</vt:lpstr>
      <vt:lpstr>Type Erasure</vt:lpstr>
      <vt:lpstr>PowerPoint Presentation</vt:lpstr>
      <vt:lpstr>Type Erasure</vt:lpstr>
      <vt:lpstr>Type Erasure</vt:lpstr>
      <vt:lpstr>Type Erasure</vt:lpstr>
      <vt:lpstr>Type Erasure</vt:lpstr>
      <vt:lpstr>Self Check 18.22</vt:lpstr>
      <vt:lpstr>Self Check 18.23</vt:lpstr>
      <vt:lpstr>Self Check 18.24</vt:lpstr>
      <vt:lpstr>Self Check 18.25</vt:lpstr>
      <vt:lpstr>Self Check 18.26</vt:lpstr>
      <vt:lpstr>Self Check 18.27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 – Generic Classes</dc:title>
  <dc:creator>GDonini</dc:creator>
  <cp:lastModifiedBy>Graig Donini</cp:lastModifiedBy>
  <cp:revision>6</cp:revision>
  <dcterms:created xsi:type="dcterms:W3CDTF">2016-01-18T23:27:05Z</dcterms:created>
  <dcterms:modified xsi:type="dcterms:W3CDTF">2018-12-19T16:30:40Z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2016-01-18T00:00:00Z</vt:filetime>
  </property>
  <property fmtid="{D5CDD505-2E9C-101B-9397-08002B2CF9AE}" pid="3" name="Creator">
    <vt:lpwstr>Chromium</vt:lpwstr>
  </property>
  <property fmtid="{D5CDD505-2E9C-101B-9397-08002B2CF9AE}" pid="4" name="LastSaved">
    <vt:filetime>2016-01-18T00:00:00Z</vt:filetime>
  </property>
</Properties>
</file>